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66" r:id="rId4"/>
    <p:sldId id="257" r:id="rId5"/>
    <p:sldId id="258" r:id="rId6"/>
    <p:sldId id="260" r:id="rId7"/>
    <p:sldId id="262" r:id="rId8"/>
    <p:sldId id="263" r:id="rId9"/>
    <p:sldId id="267" r:id="rId10"/>
    <p:sldId id="272" r:id="rId11"/>
    <p:sldId id="270" r:id="rId12"/>
    <p:sldId id="275" r:id="rId13"/>
    <p:sldId id="274" r:id="rId14"/>
    <p:sldId id="268" r:id="rId15"/>
    <p:sldId id="273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018F56-A77C-1CF6-1065-B54DB871DBE7}" v="4" dt="2025-04-13T05:57:43.487"/>
    <p1510:client id="{7F77BF5C-DCED-6A46-9B81-4D10732FE8C7}" v="14" dt="2025-04-13T05:45:24.9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577"/>
    <p:restoredTop sz="93923"/>
  </p:normalViewPr>
  <p:slideViewPr>
    <p:cSldViewPr snapToGrid="0" snapToObjects="1">
      <p:cViewPr varScale="1">
        <p:scale>
          <a:sx n="78" d="100"/>
          <a:sy n="78" d="100"/>
        </p:scale>
        <p:origin x="192" y="25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u, Yin Yin" userId="S::y_thu238974@fanshaweonline.ca::f2d340da-38f1-4816-80c4-dd59de0d2644" providerId="AD" clId="Web-{67018F56-A77C-1CF6-1065-B54DB871DBE7}"/>
    <pc:docChg chg="modSld">
      <pc:chgData name="Thu, Yin Yin" userId="S::y_thu238974@fanshaweonline.ca::f2d340da-38f1-4816-80c4-dd59de0d2644" providerId="AD" clId="Web-{67018F56-A77C-1CF6-1065-B54DB871DBE7}" dt="2025-04-13T05:57:43.487" v="3"/>
      <pc:docMkLst>
        <pc:docMk/>
      </pc:docMkLst>
      <pc:sldChg chg="delSp modSp">
        <pc:chgData name="Thu, Yin Yin" userId="S::y_thu238974@fanshaweonline.ca::f2d340da-38f1-4816-80c4-dd59de0d2644" providerId="AD" clId="Web-{67018F56-A77C-1CF6-1065-B54DB871DBE7}" dt="2025-04-13T05:57:43.487" v="3"/>
        <pc:sldMkLst>
          <pc:docMk/>
          <pc:sldMk cId="0" sldId="265"/>
        </pc:sldMkLst>
        <pc:spChg chg="del mod">
          <ac:chgData name="Thu, Yin Yin" userId="S::y_thu238974@fanshaweonline.ca::f2d340da-38f1-4816-80c4-dd59de0d2644" providerId="AD" clId="Web-{67018F56-A77C-1CF6-1065-B54DB871DBE7}" dt="2025-04-13T05:57:43.487" v="3"/>
          <ac:spMkLst>
            <pc:docMk/>
            <pc:sldMk cId="0" sldId="265"/>
            <ac:spMk id="2" creationId="{00000000-0000-0000-0000-000000000000}"/>
          </ac:spMkLst>
        </pc:spChg>
      </pc:sldChg>
      <pc:sldChg chg="delSp">
        <pc:chgData name="Thu, Yin Yin" userId="S::y_thu238974@fanshaweonline.ca::f2d340da-38f1-4816-80c4-dd59de0d2644" providerId="AD" clId="Web-{67018F56-A77C-1CF6-1065-B54DB871DBE7}" dt="2025-04-13T05:57:30.972" v="1"/>
        <pc:sldMkLst>
          <pc:docMk/>
          <pc:sldMk cId="193474175" sldId="266"/>
        </pc:sldMkLst>
        <pc:spChg chg="del">
          <ac:chgData name="Thu, Yin Yin" userId="S::y_thu238974@fanshaweonline.ca::f2d340da-38f1-4816-80c4-dd59de0d2644" providerId="AD" clId="Web-{67018F56-A77C-1CF6-1065-B54DB871DBE7}" dt="2025-04-13T05:57:30.972" v="1"/>
          <ac:spMkLst>
            <pc:docMk/>
            <pc:sldMk cId="193474175" sldId="266"/>
            <ac:spMk id="2" creationId="{CC5A5B44-9E88-3667-3E6F-18174FE2C8F5}"/>
          </ac:spMkLst>
        </pc:spChg>
        <pc:spChg chg="del">
          <ac:chgData name="Thu, Yin Yin" userId="S::y_thu238974@fanshaweonline.ca::f2d340da-38f1-4816-80c4-dd59de0d2644" providerId="AD" clId="Web-{67018F56-A77C-1CF6-1065-B54DB871DBE7}" dt="2025-04-13T05:57:28.878" v="0"/>
          <ac:spMkLst>
            <pc:docMk/>
            <pc:sldMk cId="193474175" sldId="266"/>
            <ac:spMk id="3" creationId="{3ACDBD9D-C990-4FF4-94B5-14BD71C69BC5}"/>
          </ac:spMkLst>
        </pc:spChg>
      </pc:sldChg>
    </pc:docChg>
  </pc:docChgLst>
  <pc:docChgLst>
    <pc:chgData name="Thu, Yin Yin" userId="f2d340da-38f1-4816-80c4-dd59de0d2644" providerId="ADAL" clId="{7F77BF5C-DCED-6A46-9B81-4D10732FE8C7}"/>
    <pc:docChg chg="undo custSel addSld modSld sldOrd">
      <pc:chgData name="Thu, Yin Yin" userId="f2d340da-38f1-4816-80c4-dd59de0d2644" providerId="ADAL" clId="{7F77BF5C-DCED-6A46-9B81-4D10732FE8C7}" dt="2025-04-13T05:49:43.332" v="151" actId="1036"/>
      <pc:docMkLst>
        <pc:docMk/>
      </pc:docMkLst>
      <pc:sldChg chg="modSp mod">
        <pc:chgData name="Thu, Yin Yin" userId="f2d340da-38f1-4816-80c4-dd59de0d2644" providerId="ADAL" clId="{7F77BF5C-DCED-6A46-9B81-4D10732FE8C7}" dt="2025-04-13T05:49:28.183" v="150" actId="1036"/>
        <pc:sldMkLst>
          <pc:docMk/>
          <pc:sldMk cId="0" sldId="258"/>
        </pc:sldMkLst>
        <pc:spChg chg="mod">
          <ac:chgData name="Thu, Yin Yin" userId="f2d340da-38f1-4816-80c4-dd59de0d2644" providerId="ADAL" clId="{7F77BF5C-DCED-6A46-9B81-4D10732FE8C7}" dt="2025-04-13T05:46:58.910" v="129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Thu, Yin Yin" userId="f2d340da-38f1-4816-80c4-dd59de0d2644" providerId="ADAL" clId="{7F77BF5C-DCED-6A46-9B81-4D10732FE8C7}" dt="2025-04-13T05:47:01.463" v="130" actId="1076"/>
          <ac:spMkLst>
            <pc:docMk/>
            <pc:sldMk cId="0" sldId="258"/>
            <ac:spMk id="6" creationId="{DD985F26-20AE-319E-8C0E-91F8CC5591D9}"/>
          </ac:spMkLst>
        </pc:spChg>
        <pc:spChg chg="mod">
          <ac:chgData name="Thu, Yin Yin" userId="f2d340da-38f1-4816-80c4-dd59de0d2644" providerId="ADAL" clId="{7F77BF5C-DCED-6A46-9B81-4D10732FE8C7}" dt="2025-04-13T05:49:02.562" v="149" actId="20577"/>
          <ac:spMkLst>
            <pc:docMk/>
            <pc:sldMk cId="0" sldId="258"/>
            <ac:spMk id="10" creationId="{7578B0E8-AB2B-CFC0-6C24-54245EF806A9}"/>
          </ac:spMkLst>
        </pc:spChg>
        <pc:picChg chg="mod">
          <ac:chgData name="Thu, Yin Yin" userId="f2d340da-38f1-4816-80c4-dd59de0d2644" providerId="ADAL" clId="{7F77BF5C-DCED-6A46-9B81-4D10732FE8C7}" dt="2025-04-13T05:47:04.231" v="132" actId="1076"/>
          <ac:picMkLst>
            <pc:docMk/>
            <pc:sldMk cId="0" sldId="258"/>
            <ac:picMk id="4" creationId="{E4E1EAEF-8D22-657B-D47E-F57A802CD836}"/>
          </ac:picMkLst>
        </pc:picChg>
        <pc:picChg chg="mod">
          <ac:chgData name="Thu, Yin Yin" userId="f2d340da-38f1-4816-80c4-dd59de0d2644" providerId="ADAL" clId="{7F77BF5C-DCED-6A46-9B81-4D10732FE8C7}" dt="2025-04-13T05:47:02.517" v="131" actId="1076"/>
          <ac:picMkLst>
            <pc:docMk/>
            <pc:sldMk cId="0" sldId="258"/>
            <ac:picMk id="5" creationId="{B9CD43E7-BA84-3C20-4532-A14640F16F31}"/>
          </ac:picMkLst>
        </pc:picChg>
        <pc:picChg chg="mod">
          <ac:chgData name="Thu, Yin Yin" userId="f2d340da-38f1-4816-80c4-dd59de0d2644" providerId="ADAL" clId="{7F77BF5C-DCED-6A46-9B81-4D10732FE8C7}" dt="2025-04-13T05:49:28.183" v="150" actId="1036"/>
          <ac:picMkLst>
            <pc:docMk/>
            <pc:sldMk cId="0" sldId="258"/>
            <ac:picMk id="7" creationId="{8F9F550C-7550-5599-8605-FCF96BBD54B6}"/>
          </ac:picMkLst>
        </pc:picChg>
        <pc:picChg chg="mod">
          <ac:chgData name="Thu, Yin Yin" userId="f2d340da-38f1-4816-80c4-dd59de0d2644" providerId="ADAL" clId="{7F77BF5C-DCED-6A46-9B81-4D10732FE8C7}" dt="2025-04-13T05:47:14.550" v="136" actId="1076"/>
          <ac:picMkLst>
            <pc:docMk/>
            <pc:sldMk cId="0" sldId="258"/>
            <ac:picMk id="8" creationId="{5343DA4D-1B26-E422-6458-9FA32A601FC5}"/>
          </ac:picMkLst>
        </pc:picChg>
      </pc:sldChg>
      <pc:sldChg chg="modSp mod">
        <pc:chgData name="Thu, Yin Yin" userId="f2d340da-38f1-4816-80c4-dd59de0d2644" providerId="ADAL" clId="{7F77BF5C-DCED-6A46-9B81-4D10732FE8C7}" dt="2025-04-13T05:49:43.332" v="151" actId="1036"/>
        <pc:sldMkLst>
          <pc:docMk/>
          <pc:sldMk cId="0" sldId="260"/>
        </pc:sldMkLst>
        <pc:picChg chg="mod">
          <ac:chgData name="Thu, Yin Yin" userId="f2d340da-38f1-4816-80c4-dd59de0d2644" providerId="ADAL" clId="{7F77BF5C-DCED-6A46-9B81-4D10732FE8C7}" dt="2025-04-13T05:49:43.332" v="151" actId="1036"/>
          <ac:picMkLst>
            <pc:docMk/>
            <pc:sldMk cId="0" sldId="260"/>
            <ac:picMk id="4" creationId="{9BACA88D-72B1-E53E-218D-BD46777748BD}"/>
          </ac:picMkLst>
        </pc:picChg>
      </pc:sldChg>
      <pc:sldChg chg="modSp mod">
        <pc:chgData name="Thu, Yin Yin" userId="f2d340da-38f1-4816-80c4-dd59de0d2644" providerId="ADAL" clId="{7F77BF5C-DCED-6A46-9B81-4D10732FE8C7}" dt="2025-04-13T05:44:42.382" v="78" actId="20577"/>
        <pc:sldMkLst>
          <pc:docMk/>
          <pc:sldMk cId="0" sldId="263"/>
        </pc:sldMkLst>
        <pc:spChg chg="mod">
          <ac:chgData name="Thu, Yin Yin" userId="f2d340da-38f1-4816-80c4-dd59de0d2644" providerId="ADAL" clId="{7F77BF5C-DCED-6A46-9B81-4D10732FE8C7}" dt="2025-04-13T05:42:47.883" v="2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Thu, Yin Yin" userId="f2d340da-38f1-4816-80c4-dd59de0d2644" providerId="ADAL" clId="{7F77BF5C-DCED-6A46-9B81-4D10732FE8C7}" dt="2025-04-13T05:44:42.382" v="78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Thu, Yin Yin" userId="f2d340da-38f1-4816-80c4-dd59de0d2644" providerId="ADAL" clId="{7F77BF5C-DCED-6A46-9B81-4D10732FE8C7}" dt="2025-04-13T05:46:42.308" v="128" actId="20577"/>
        <pc:sldMkLst>
          <pc:docMk/>
          <pc:sldMk cId="0" sldId="265"/>
        </pc:sldMkLst>
        <pc:spChg chg="mod">
          <ac:chgData name="Thu, Yin Yin" userId="f2d340da-38f1-4816-80c4-dd59de0d2644" providerId="ADAL" clId="{7F77BF5C-DCED-6A46-9B81-4D10732FE8C7}" dt="2025-04-13T05:46:29.267" v="123" actId="21"/>
          <ac:spMkLst>
            <pc:docMk/>
            <pc:sldMk cId="0" sldId="265"/>
            <ac:spMk id="2" creationId="{00000000-0000-0000-0000-000000000000}"/>
          </ac:spMkLst>
        </pc:spChg>
        <pc:spChg chg="mod">
          <ac:chgData name="Thu, Yin Yin" userId="f2d340da-38f1-4816-80c4-dd59de0d2644" providerId="ADAL" clId="{7F77BF5C-DCED-6A46-9B81-4D10732FE8C7}" dt="2025-04-13T05:46:42.308" v="128" actId="20577"/>
          <ac:spMkLst>
            <pc:docMk/>
            <pc:sldMk cId="0" sldId="265"/>
            <ac:spMk id="3" creationId="{00000000-0000-0000-0000-000000000000}"/>
          </ac:spMkLst>
        </pc:spChg>
      </pc:sldChg>
      <pc:sldChg chg="addSp delSp modSp add mod">
        <pc:chgData name="Thu, Yin Yin" userId="f2d340da-38f1-4816-80c4-dd59de0d2644" providerId="ADAL" clId="{7F77BF5C-DCED-6A46-9B81-4D10732FE8C7}" dt="2025-04-13T05:45:47.708" v="103" actId="20577"/>
        <pc:sldMkLst>
          <pc:docMk/>
          <pc:sldMk cId="2683693442" sldId="267"/>
        </pc:sldMkLst>
        <pc:spChg chg="mod">
          <ac:chgData name="Thu, Yin Yin" userId="f2d340da-38f1-4816-80c4-dd59de0d2644" providerId="ADAL" clId="{7F77BF5C-DCED-6A46-9B81-4D10732FE8C7}" dt="2025-04-13T05:42:55.188" v="5" actId="20577"/>
          <ac:spMkLst>
            <pc:docMk/>
            <pc:sldMk cId="2683693442" sldId="267"/>
            <ac:spMk id="2" creationId="{AABCED4D-29F1-7140-33C5-34A81CFEAC0E}"/>
          </ac:spMkLst>
        </pc:spChg>
        <pc:spChg chg="mod">
          <ac:chgData name="Thu, Yin Yin" userId="f2d340da-38f1-4816-80c4-dd59de0d2644" providerId="ADAL" clId="{7F77BF5C-DCED-6A46-9B81-4D10732FE8C7}" dt="2025-04-13T05:45:47.708" v="103" actId="20577"/>
          <ac:spMkLst>
            <pc:docMk/>
            <pc:sldMk cId="2683693442" sldId="267"/>
            <ac:spMk id="3" creationId="{599E9B3C-B07B-895F-32CE-B23675E37E75}"/>
          </ac:spMkLst>
        </pc:spChg>
        <pc:picChg chg="del">
          <ac:chgData name="Thu, Yin Yin" userId="f2d340da-38f1-4816-80c4-dd59de0d2644" providerId="ADAL" clId="{7F77BF5C-DCED-6A46-9B81-4D10732FE8C7}" dt="2025-04-13T05:45:22.449" v="97" actId="478"/>
          <ac:picMkLst>
            <pc:docMk/>
            <pc:sldMk cId="2683693442" sldId="267"/>
            <ac:picMk id="4" creationId="{D3C3C47A-41E4-7C7B-C2F9-578EFDEB07C5}"/>
          </ac:picMkLst>
        </pc:picChg>
        <pc:picChg chg="del">
          <ac:chgData name="Thu, Yin Yin" userId="f2d340da-38f1-4816-80c4-dd59de0d2644" providerId="ADAL" clId="{7F77BF5C-DCED-6A46-9B81-4D10732FE8C7}" dt="2025-04-13T05:45:24.429" v="98" actId="478"/>
          <ac:picMkLst>
            <pc:docMk/>
            <pc:sldMk cId="2683693442" sldId="267"/>
            <ac:picMk id="5" creationId="{DFB5F7EB-723E-0562-5472-0316CD2A2B5C}"/>
          </ac:picMkLst>
        </pc:picChg>
        <pc:picChg chg="add mod">
          <ac:chgData name="Thu, Yin Yin" userId="f2d340da-38f1-4816-80c4-dd59de0d2644" providerId="ADAL" clId="{7F77BF5C-DCED-6A46-9B81-4D10732FE8C7}" dt="2025-04-13T05:45:31.311" v="101" actId="1076"/>
          <ac:picMkLst>
            <pc:docMk/>
            <pc:sldMk cId="2683693442" sldId="267"/>
            <ac:picMk id="6" creationId="{B0109DDB-5623-6E74-B3DE-0D0D4199ED2D}"/>
          </ac:picMkLst>
        </pc:picChg>
      </pc:sldChg>
      <pc:sldChg chg="modSp new mod ord">
        <pc:chgData name="Thu, Yin Yin" userId="f2d340da-38f1-4816-80c4-dd59de0d2644" providerId="ADAL" clId="{7F77BF5C-DCED-6A46-9B81-4D10732FE8C7}" dt="2025-04-13T05:46:26.198" v="122" actId="20578"/>
        <pc:sldMkLst>
          <pc:docMk/>
          <pc:sldMk cId="18762987" sldId="268"/>
        </pc:sldMkLst>
        <pc:spChg chg="mod">
          <ac:chgData name="Thu, Yin Yin" userId="f2d340da-38f1-4816-80c4-dd59de0d2644" providerId="ADAL" clId="{7F77BF5C-DCED-6A46-9B81-4D10732FE8C7}" dt="2025-04-13T05:46:24.067" v="121" actId="20577"/>
          <ac:spMkLst>
            <pc:docMk/>
            <pc:sldMk cId="18762987" sldId="268"/>
            <ac:spMk id="2" creationId="{066B9B6D-7E72-6548-B241-1486D228B771}"/>
          </ac:spMkLst>
        </pc:spChg>
        <pc:spChg chg="mod">
          <ac:chgData name="Thu, Yin Yin" userId="f2d340da-38f1-4816-80c4-dd59de0d2644" providerId="ADAL" clId="{7F77BF5C-DCED-6A46-9B81-4D10732FE8C7}" dt="2025-04-13T05:46:18.374" v="111" actId="20577"/>
          <ac:spMkLst>
            <pc:docMk/>
            <pc:sldMk cId="18762987" sldId="268"/>
            <ac:spMk id="3" creationId="{03E7581B-6EF1-36AE-0EED-225B5950BE78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C402EF-8B92-4729-989F-E2960DD80B1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9B13FE7-2C1F-4059-BEFA-4B46954ED8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DCGAN — </a:t>
          </a:r>
          <a:r>
            <a:rPr lang="en-CA"/>
            <a:t>generate -&gt; </a:t>
          </a:r>
          <a:r>
            <a:rPr lang="en-US"/>
            <a:t>synthetic faces</a:t>
          </a:r>
        </a:p>
      </dgm:t>
    </dgm:pt>
    <dgm:pt modelId="{6EFAAA18-0079-4894-8845-F453C96DDC0F}" type="parTrans" cxnId="{A6086637-7784-4CA8-A759-FA8EB20BDAF5}">
      <dgm:prSet/>
      <dgm:spPr/>
      <dgm:t>
        <a:bodyPr/>
        <a:lstStyle/>
        <a:p>
          <a:endParaRPr lang="en-US"/>
        </a:p>
      </dgm:t>
    </dgm:pt>
    <dgm:pt modelId="{0B8C906E-09C6-4F5F-B9CF-7F10A3BF8444}" type="sibTrans" cxnId="{A6086637-7784-4CA8-A759-FA8EB20BDAF5}">
      <dgm:prSet/>
      <dgm:spPr/>
      <dgm:t>
        <a:bodyPr/>
        <a:lstStyle/>
        <a:p>
          <a:endParaRPr lang="en-US"/>
        </a:p>
      </dgm:t>
    </dgm:pt>
    <dgm:pt modelId="{22CE0E6E-6B68-4C60-9B57-401966001D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CycleGAN — </a:t>
          </a:r>
          <a:r>
            <a:rPr lang="en-CA"/>
            <a:t>image </a:t>
          </a:r>
          <a:r>
            <a:rPr lang="en-US"/>
            <a:t>→</a:t>
          </a:r>
          <a:r>
            <a:rPr lang="en-CA"/>
            <a:t> </a:t>
          </a:r>
          <a:r>
            <a:rPr lang="en-US"/>
            <a:t>cartoon</a:t>
          </a:r>
        </a:p>
      </dgm:t>
    </dgm:pt>
    <dgm:pt modelId="{96697CC6-D667-46F6-ABA8-C8CEC2CB92D9}" type="parTrans" cxnId="{1BADAFDC-F5E7-416F-910B-183EE5EA2F05}">
      <dgm:prSet/>
      <dgm:spPr/>
      <dgm:t>
        <a:bodyPr/>
        <a:lstStyle/>
        <a:p>
          <a:endParaRPr lang="en-US"/>
        </a:p>
      </dgm:t>
    </dgm:pt>
    <dgm:pt modelId="{18B1F4BC-9993-4788-A90A-76E364C478BE}" type="sibTrans" cxnId="{1BADAFDC-F5E7-416F-910B-183EE5EA2F05}">
      <dgm:prSet/>
      <dgm:spPr/>
      <dgm:t>
        <a:bodyPr/>
        <a:lstStyle/>
        <a:p>
          <a:endParaRPr lang="en-US"/>
        </a:p>
      </dgm:t>
    </dgm:pt>
    <dgm:pt modelId="{AE16802C-D3B7-4E2E-B3FB-176DE5123FBF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Open Router — Meta Llama 4 Maverick</a:t>
          </a:r>
          <a:endParaRPr lang="en-US"/>
        </a:p>
      </dgm:t>
    </dgm:pt>
    <dgm:pt modelId="{5DA9EDFB-171E-4DA7-852A-F6247B69499A}" type="parTrans" cxnId="{EB5DB116-C462-4BFF-A401-ECC0004510D3}">
      <dgm:prSet/>
      <dgm:spPr/>
      <dgm:t>
        <a:bodyPr/>
        <a:lstStyle/>
        <a:p>
          <a:endParaRPr lang="en-US"/>
        </a:p>
      </dgm:t>
    </dgm:pt>
    <dgm:pt modelId="{BB45CF1F-A154-4D78-AD8D-A337D506E179}" type="sibTrans" cxnId="{EB5DB116-C462-4BFF-A401-ECC0004510D3}">
      <dgm:prSet/>
      <dgm:spPr/>
      <dgm:t>
        <a:bodyPr/>
        <a:lstStyle/>
        <a:p>
          <a:endParaRPr lang="en-US"/>
        </a:p>
      </dgm:t>
    </dgm:pt>
    <dgm:pt modelId="{D9BB7260-163F-4BFF-A87B-F56F8CF205F1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Hugging Face — StableDiffusionPipeline</a:t>
          </a:r>
          <a:endParaRPr lang="en-US"/>
        </a:p>
      </dgm:t>
    </dgm:pt>
    <dgm:pt modelId="{B7747764-843B-4C83-9715-8011FDC44C93}" type="parTrans" cxnId="{748336F3-193D-46CB-9176-8904BD3C0F38}">
      <dgm:prSet/>
      <dgm:spPr/>
      <dgm:t>
        <a:bodyPr/>
        <a:lstStyle/>
        <a:p>
          <a:endParaRPr lang="en-US"/>
        </a:p>
      </dgm:t>
    </dgm:pt>
    <dgm:pt modelId="{D2C7A2B3-093E-4E21-BC3F-DF605AFD0E00}" type="sibTrans" cxnId="{748336F3-193D-46CB-9176-8904BD3C0F38}">
      <dgm:prSet/>
      <dgm:spPr/>
      <dgm:t>
        <a:bodyPr/>
        <a:lstStyle/>
        <a:p>
          <a:endParaRPr lang="en-US"/>
        </a:p>
      </dgm:t>
    </dgm:pt>
    <dgm:pt modelId="{5C3DCD0E-BA9C-4780-856F-BC06D926C68D}" type="pres">
      <dgm:prSet presAssocID="{E2C402EF-8B92-4729-989F-E2960DD80B11}" presName="root" presStyleCnt="0">
        <dgm:presLayoutVars>
          <dgm:dir/>
          <dgm:resizeHandles val="exact"/>
        </dgm:presLayoutVars>
      </dgm:prSet>
      <dgm:spPr/>
    </dgm:pt>
    <dgm:pt modelId="{17A65FC6-3D2C-4370-977D-5F3146BD802C}" type="pres">
      <dgm:prSet presAssocID="{09B13FE7-2C1F-4059-BEFA-4B46954ED8FF}" presName="compNode" presStyleCnt="0"/>
      <dgm:spPr/>
    </dgm:pt>
    <dgm:pt modelId="{D7EC68D0-E988-4AE5-8B46-5EF89C75526E}" type="pres">
      <dgm:prSet presAssocID="{09B13FE7-2C1F-4059-BEFA-4B46954ED8F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 Sign"/>
        </a:ext>
      </dgm:extLst>
    </dgm:pt>
    <dgm:pt modelId="{3AB0590C-ED4E-4379-89C2-6B4D574C51B8}" type="pres">
      <dgm:prSet presAssocID="{09B13FE7-2C1F-4059-BEFA-4B46954ED8FF}" presName="spaceRect" presStyleCnt="0"/>
      <dgm:spPr/>
    </dgm:pt>
    <dgm:pt modelId="{D3D00898-0688-48E3-B2FE-2C4C31B61018}" type="pres">
      <dgm:prSet presAssocID="{09B13FE7-2C1F-4059-BEFA-4B46954ED8FF}" presName="textRect" presStyleLbl="revTx" presStyleIdx="0" presStyleCnt="4">
        <dgm:presLayoutVars>
          <dgm:chMax val="1"/>
          <dgm:chPref val="1"/>
        </dgm:presLayoutVars>
      </dgm:prSet>
      <dgm:spPr/>
    </dgm:pt>
    <dgm:pt modelId="{28328CF5-87B4-4584-B5CD-E2507CD69737}" type="pres">
      <dgm:prSet presAssocID="{0B8C906E-09C6-4F5F-B9CF-7F10A3BF8444}" presName="sibTrans" presStyleCnt="0"/>
      <dgm:spPr/>
    </dgm:pt>
    <dgm:pt modelId="{291B041B-BF8A-4897-AB38-1A19BCA00D03}" type="pres">
      <dgm:prSet presAssocID="{22CE0E6E-6B68-4C60-9B57-401966001D61}" presName="compNode" presStyleCnt="0"/>
      <dgm:spPr/>
    </dgm:pt>
    <dgm:pt modelId="{A47E1E8C-270F-42BE-B611-F71A3537D479}" type="pres">
      <dgm:prSet presAssocID="{22CE0E6E-6B68-4C60-9B57-401966001D6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BC4CBFEB-D22B-4F54-9AFE-4C178CA961A4}" type="pres">
      <dgm:prSet presAssocID="{22CE0E6E-6B68-4C60-9B57-401966001D61}" presName="spaceRect" presStyleCnt="0"/>
      <dgm:spPr/>
    </dgm:pt>
    <dgm:pt modelId="{B3301DE5-59B3-4686-8785-F79B5630A6EC}" type="pres">
      <dgm:prSet presAssocID="{22CE0E6E-6B68-4C60-9B57-401966001D61}" presName="textRect" presStyleLbl="revTx" presStyleIdx="1" presStyleCnt="4">
        <dgm:presLayoutVars>
          <dgm:chMax val="1"/>
          <dgm:chPref val="1"/>
        </dgm:presLayoutVars>
      </dgm:prSet>
      <dgm:spPr/>
    </dgm:pt>
    <dgm:pt modelId="{EB3397E1-BDEA-4701-A48F-B8D09A507525}" type="pres">
      <dgm:prSet presAssocID="{18B1F4BC-9993-4788-A90A-76E364C478BE}" presName="sibTrans" presStyleCnt="0"/>
      <dgm:spPr/>
    </dgm:pt>
    <dgm:pt modelId="{22081783-9AF9-444B-BF0A-8D0E9B241BE9}" type="pres">
      <dgm:prSet presAssocID="{AE16802C-D3B7-4E2E-B3FB-176DE5123FBF}" presName="compNode" presStyleCnt="0"/>
      <dgm:spPr/>
    </dgm:pt>
    <dgm:pt modelId="{8599CE26-C672-495F-A5D7-928F5E819032}" type="pres">
      <dgm:prSet presAssocID="{AE16802C-D3B7-4E2E-B3FB-176DE5123FB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1BD55FB5-C989-478B-8DBE-D509E0CFF971}" type="pres">
      <dgm:prSet presAssocID="{AE16802C-D3B7-4E2E-B3FB-176DE5123FBF}" presName="spaceRect" presStyleCnt="0"/>
      <dgm:spPr/>
    </dgm:pt>
    <dgm:pt modelId="{635B5EF9-CAF6-46E3-AC1E-B31156962458}" type="pres">
      <dgm:prSet presAssocID="{AE16802C-D3B7-4E2E-B3FB-176DE5123FBF}" presName="textRect" presStyleLbl="revTx" presStyleIdx="2" presStyleCnt="4">
        <dgm:presLayoutVars>
          <dgm:chMax val="1"/>
          <dgm:chPref val="1"/>
        </dgm:presLayoutVars>
      </dgm:prSet>
      <dgm:spPr/>
    </dgm:pt>
    <dgm:pt modelId="{17072ECF-845F-4F9E-A2A0-60F827E635EF}" type="pres">
      <dgm:prSet presAssocID="{BB45CF1F-A154-4D78-AD8D-A337D506E179}" presName="sibTrans" presStyleCnt="0"/>
      <dgm:spPr/>
    </dgm:pt>
    <dgm:pt modelId="{55221F50-808A-4EC8-8718-CAFBE67BE088}" type="pres">
      <dgm:prSet presAssocID="{D9BB7260-163F-4BFF-A87B-F56F8CF205F1}" presName="compNode" presStyleCnt="0"/>
      <dgm:spPr/>
    </dgm:pt>
    <dgm:pt modelId="{2E79B7F0-D1EE-42CB-922A-572D0555B771}" type="pres">
      <dgm:prSet presAssocID="{D9BB7260-163F-4BFF-A87B-F56F8CF205F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 Love Face Outline"/>
        </a:ext>
      </dgm:extLst>
    </dgm:pt>
    <dgm:pt modelId="{969E6BF7-DB0A-4B8F-8A92-148B64BD1278}" type="pres">
      <dgm:prSet presAssocID="{D9BB7260-163F-4BFF-A87B-F56F8CF205F1}" presName="spaceRect" presStyleCnt="0"/>
      <dgm:spPr/>
    </dgm:pt>
    <dgm:pt modelId="{29F5CA06-587E-41AC-AAF7-1606A6DAFF15}" type="pres">
      <dgm:prSet presAssocID="{D9BB7260-163F-4BFF-A87B-F56F8CF205F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B5DB116-C462-4BFF-A401-ECC0004510D3}" srcId="{E2C402EF-8B92-4729-989F-E2960DD80B11}" destId="{AE16802C-D3B7-4E2E-B3FB-176DE5123FBF}" srcOrd="2" destOrd="0" parTransId="{5DA9EDFB-171E-4DA7-852A-F6247B69499A}" sibTransId="{BB45CF1F-A154-4D78-AD8D-A337D506E179}"/>
    <dgm:cxn modelId="{A6086637-7784-4CA8-A759-FA8EB20BDAF5}" srcId="{E2C402EF-8B92-4729-989F-E2960DD80B11}" destId="{09B13FE7-2C1F-4059-BEFA-4B46954ED8FF}" srcOrd="0" destOrd="0" parTransId="{6EFAAA18-0079-4894-8845-F453C96DDC0F}" sibTransId="{0B8C906E-09C6-4F5F-B9CF-7F10A3BF8444}"/>
    <dgm:cxn modelId="{3FC0C741-8B4C-D14B-BF82-7C4119EF93EE}" type="presOf" srcId="{AE16802C-D3B7-4E2E-B3FB-176DE5123FBF}" destId="{635B5EF9-CAF6-46E3-AC1E-B31156962458}" srcOrd="0" destOrd="0" presId="urn:microsoft.com/office/officeart/2018/2/layout/IconLabelList"/>
    <dgm:cxn modelId="{E277325B-0622-D545-ABD6-2F3877C62A30}" type="presOf" srcId="{E2C402EF-8B92-4729-989F-E2960DD80B11}" destId="{5C3DCD0E-BA9C-4780-856F-BC06D926C68D}" srcOrd="0" destOrd="0" presId="urn:microsoft.com/office/officeart/2018/2/layout/IconLabelList"/>
    <dgm:cxn modelId="{44445277-6880-1848-99C1-8BD37F68ACDC}" type="presOf" srcId="{09B13FE7-2C1F-4059-BEFA-4B46954ED8FF}" destId="{D3D00898-0688-48E3-B2FE-2C4C31B61018}" srcOrd="0" destOrd="0" presId="urn:microsoft.com/office/officeart/2018/2/layout/IconLabelList"/>
    <dgm:cxn modelId="{7F480B98-756A-A64E-A8BE-8FD148974EA1}" type="presOf" srcId="{22CE0E6E-6B68-4C60-9B57-401966001D61}" destId="{B3301DE5-59B3-4686-8785-F79B5630A6EC}" srcOrd="0" destOrd="0" presId="urn:microsoft.com/office/officeart/2018/2/layout/IconLabelList"/>
    <dgm:cxn modelId="{D9DCE7D1-E6A6-E84A-A2C6-210DABFF506D}" type="presOf" srcId="{D9BB7260-163F-4BFF-A87B-F56F8CF205F1}" destId="{29F5CA06-587E-41AC-AAF7-1606A6DAFF15}" srcOrd="0" destOrd="0" presId="urn:microsoft.com/office/officeart/2018/2/layout/IconLabelList"/>
    <dgm:cxn modelId="{1BADAFDC-F5E7-416F-910B-183EE5EA2F05}" srcId="{E2C402EF-8B92-4729-989F-E2960DD80B11}" destId="{22CE0E6E-6B68-4C60-9B57-401966001D61}" srcOrd="1" destOrd="0" parTransId="{96697CC6-D667-46F6-ABA8-C8CEC2CB92D9}" sibTransId="{18B1F4BC-9993-4788-A90A-76E364C478BE}"/>
    <dgm:cxn modelId="{748336F3-193D-46CB-9176-8904BD3C0F38}" srcId="{E2C402EF-8B92-4729-989F-E2960DD80B11}" destId="{D9BB7260-163F-4BFF-A87B-F56F8CF205F1}" srcOrd="3" destOrd="0" parTransId="{B7747764-843B-4C83-9715-8011FDC44C93}" sibTransId="{D2C7A2B3-093E-4E21-BC3F-DF605AFD0E00}"/>
    <dgm:cxn modelId="{5B9CD533-6558-BC48-948D-C85A2092EF87}" type="presParOf" srcId="{5C3DCD0E-BA9C-4780-856F-BC06D926C68D}" destId="{17A65FC6-3D2C-4370-977D-5F3146BD802C}" srcOrd="0" destOrd="0" presId="urn:microsoft.com/office/officeart/2018/2/layout/IconLabelList"/>
    <dgm:cxn modelId="{C8521B29-075C-2F44-89FC-9C2AACC6264F}" type="presParOf" srcId="{17A65FC6-3D2C-4370-977D-5F3146BD802C}" destId="{D7EC68D0-E988-4AE5-8B46-5EF89C75526E}" srcOrd="0" destOrd="0" presId="urn:microsoft.com/office/officeart/2018/2/layout/IconLabelList"/>
    <dgm:cxn modelId="{4BA65CF7-7EB8-BD4E-B535-5D5816AB7F9E}" type="presParOf" srcId="{17A65FC6-3D2C-4370-977D-5F3146BD802C}" destId="{3AB0590C-ED4E-4379-89C2-6B4D574C51B8}" srcOrd="1" destOrd="0" presId="urn:microsoft.com/office/officeart/2018/2/layout/IconLabelList"/>
    <dgm:cxn modelId="{85153E17-9DE2-F940-8335-563540CACB8E}" type="presParOf" srcId="{17A65FC6-3D2C-4370-977D-5F3146BD802C}" destId="{D3D00898-0688-48E3-B2FE-2C4C31B61018}" srcOrd="2" destOrd="0" presId="urn:microsoft.com/office/officeart/2018/2/layout/IconLabelList"/>
    <dgm:cxn modelId="{C919FDF6-197C-734E-9464-26C279138CA5}" type="presParOf" srcId="{5C3DCD0E-BA9C-4780-856F-BC06D926C68D}" destId="{28328CF5-87B4-4584-B5CD-E2507CD69737}" srcOrd="1" destOrd="0" presId="urn:microsoft.com/office/officeart/2018/2/layout/IconLabelList"/>
    <dgm:cxn modelId="{C31D9C4C-D753-E444-8A5A-4A9EA0525088}" type="presParOf" srcId="{5C3DCD0E-BA9C-4780-856F-BC06D926C68D}" destId="{291B041B-BF8A-4897-AB38-1A19BCA00D03}" srcOrd="2" destOrd="0" presId="urn:microsoft.com/office/officeart/2018/2/layout/IconLabelList"/>
    <dgm:cxn modelId="{10FD4E9D-3BB6-9045-8F31-1ADF5C77BF60}" type="presParOf" srcId="{291B041B-BF8A-4897-AB38-1A19BCA00D03}" destId="{A47E1E8C-270F-42BE-B611-F71A3537D479}" srcOrd="0" destOrd="0" presId="urn:microsoft.com/office/officeart/2018/2/layout/IconLabelList"/>
    <dgm:cxn modelId="{C2114112-2F76-9644-85E2-96A71A6B5C85}" type="presParOf" srcId="{291B041B-BF8A-4897-AB38-1A19BCA00D03}" destId="{BC4CBFEB-D22B-4F54-9AFE-4C178CA961A4}" srcOrd="1" destOrd="0" presId="urn:microsoft.com/office/officeart/2018/2/layout/IconLabelList"/>
    <dgm:cxn modelId="{D5BBD46D-6B5D-2843-8689-F11FD84054E1}" type="presParOf" srcId="{291B041B-BF8A-4897-AB38-1A19BCA00D03}" destId="{B3301DE5-59B3-4686-8785-F79B5630A6EC}" srcOrd="2" destOrd="0" presId="urn:microsoft.com/office/officeart/2018/2/layout/IconLabelList"/>
    <dgm:cxn modelId="{1DC31698-E712-2140-B7DF-2519376011E0}" type="presParOf" srcId="{5C3DCD0E-BA9C-4780-856F-BC06D926C68D}" destId="{EB3397E1-BDEA-4701-A48F-B8D09A507525}" srcOrd="3" destOrd="0" presId="urn:microsoft.com/office/officeart/2018/2/layout/IconLabelList"/>
    <dgm:cxn modelId="{5F04E3AF-DFAB-F542-A3A6-04EBD897FD5A}" type="presParOf" srcId="{5C3DCD0E-BA9C-4780-856F-BC06D926C68D}" destId="{22081783-9AF9-444B-BF0A-8D0E9B241BE9}" srcOrd="4" destOrd="0" presId="urn:microsoft.com/office/officeart/2018/2/layout/IconLabelList"/>
    <dgm:cxn modelId="{E74952B1-EA42-7949-8597-12140A4668B0}" type="presParOf" srcId="{22081783-9AF9-444B-BF0A-8D0E9B241BE9}" destId="{8599CE26-C672-495F-A5D7-928F5E819032}" srcOrd="0" destOrd="0" presId="urn:microsoft.com/office/officeart/2018/2/layout/IconLabelList"/>
    <dgm:cxn modelId="{8AAC261D-D4FC-B945-B50C-81E539C11F94}" type="presParOf" srcId="{22081783-9AF9-444B-BF0A-8D0E9B241BE9}" destId="{1BD55FB5-C989-478B-8DBE-D509E0CFF971}" srcOrd="1" destOrd="0" presId="urn:microsoft.com/office/officeart/2018/2/layout/IconLabelList"/>
    <dgm:cxn modelId="{7BCE916C-7B58-A54C-B9D7-8242F51F8258}" type="presParOf" srcId="{22081783-9AF9-444B-BF0A-8D0E9B241BE9}" destId="{635B5EF9-CAF6-46E3-AC1E-B31156962458}" srcOrd="2" destOrd="0" presId="urn:microsoft.com/office/officeart/2018/2/layout/IconLabelList"/>
    <dgm:cxn modelId="{84B00AE1-1531-9C4E-B87A-C0B462F5477F}" type="presParOf" srcId="{5C3DCD0E-BA9C-4780-856F-BC06D926C68D}" destId="{17072ECF-845F-4F9E-A2A0-60F827E635EF}" srcOrd="5" destOrd="0" presId="urn:microsoft.com/office/officeart/2018/2/layout/IconLabelList"/>
    <dgm:cxn modelId="{2801A128-96C6-514D-86AB-1B20D712EEB8}" type="presParOf" srcId="{5C3DCD0E-BA9C-4780-856F-BC06D926C68D}" destId="{55221F50-808A-4EC8-8718-CAFBE67BE088}" srcOrd="6" destOrd="0" presId="urn:microsoft.com/office/officeart/2018/2/layout/IconLabelList"/>
    <dgm:cxn modelId="{06EE6389-5492-EE44-948B-73337439133D}" type="presParOf" srcId="{55221F50-808A-4EC8-8718-CAFBE67BE088}" destId="{2E79B7F0-D1EE-42CB-922A-572D0555B771}" srcOrd="0" destOrd="0" presId="urn:microsoft.com/office/officeart/2018/2/layout/IconLabelList"/>
    <dgm:cxn modelId="{812EFD27-D986-B640-810A-91FCA5B9AC34}" type="presParOf" srcId="{55221F50-808A-4EC8-8718-CAFBE67BE088}" destId="{969E6BF7-DB0A-4B8F-8A92-148B64BD1278}" srcOrd="1" destOrd="0" presId="urn:microsoft.com/office/officeart/2018/2/layout/IconLabelList"/>
    <dgm:cxn modelId="{42F3F463-D29B-CF4C-A869-900290A6A444}" type="presParOf" srcId="{55221F50-808A-4EC8-8718-CAFBE67BE088}" destId="{29F5CA06-587E-41AC-AAF7-1606A6DAFF1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EAAC49-0C83-43D4-A518-5DE0B0C59D98}" type="doc">
      <dgm:prSet loTypeId="urn:microsoft.com/office/officeart/2005/8/layout/vList2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7843006-9199-4E87-9C09-FCE9D1DC0B39}">
      <dgm:prSet/>
      <dgm:spPr/>
      <dgm:t>
        <a:bodyPr/>
        <a:lstStyle/>
        <a:p>
          <a:r>
            <a:rPr lang="en-US" dirty="0"/>
            <a:t>Open Router (Meta Llama 4 Maverick) -&gt; Classify Gender</a:t>
          </a:r>
        </a:p>
      </dgm:t>
    </dgm:pt>
    <dgm:pt modelId="{D24258D9-A728-4D25-BDB0-F553108132E4}" type="parTrans" cxnId="{2E1EE862-0A23-4788-824A-84FEB529FC7D}">
      <dgm:prSet/>
      <dgm:spPr/>
      <dgm:t>
        <a:bodyPr/>
        <a:lstStyle/>
        <a:p>
          <a:endParaRPr lang="en-US"/>
        </a:p>
      </dgm:t>
    </dgm:pt>
    <dgm:pt modelId="{73EBCC4B-CD66-4475-BFBC-42A8B275BE07}" type="sibTrans" cxnId="{2E1EE862-0A23-4788-824A-84FEB529FC7D}">
      <dgm:prSet/>
      <dgm:spPr/>
      <dgm:t>
        <a:bodyPr/>
        <a:lstStyle/>
        <a:p>
          <a:endParaRPr lang="en-US"/>
        </a:p>
      </dgm:t>
    </dgm:pt>
    <dgm:pt modelId="{2775687E-7A5A-4F43-BF82-6BDED00CD574}">
      <dgm:prSet/>
      <dgm:spPr/>
      <dgm:t>
        <a:bodyPr/>
        <a:lstStyle/>
        <a:p>
          <a:r>
            <a:rPr lang="en-US" dirty="0"/>
            <a:t>The image depicts </a:t>
          </a:r>
          <a:r>
            <a:rPr lang="en-US" b="1" u="sng" dirty="0"/>
            <a:t>a man. </a:t>
          </a:r>
          <a:r>
            <a:rPr lang="en-CA" dirty="0"/>
            <a:t>The image depicts a man. The content of the image is a male individual wearing a black jacket over a gray hoodie, standing in front of a wall with an intricate white design and a concrete pillar to his right.</a:t>
          </a:r>
          <a:endParaRPr lang="en-US" dirty="0"/>
        </a:p>
      </dgm:t>
    </dgm:pt>
    <dgm:pt modelId="{3AB8B187-90CF-4A20-A018-DAF0E5D662FF}" type="parTrans" cxnId="{8DC40838-5B3F-4E8B-BAF4-C020F57E8B10}">
      <dgm:prSet/>
      <dgm:spPr/>
      <dgm:t>
        <a:bodyPr/>
        <a:lstStyle/>
        <a:p>
          <a:endParaRPr lang="en-US"/>
        </a:p>
      </dgm:t>
    </dgm:pt>
    <dgm:pt modelId="{FECB0DE6-9B1D-48A5-B678-9E947AFD48AB}" type="sibTrans" cxnId="{8DC40838-5B3F-4E8B-BAF4-C020F57E8B10}">
      <dgm:prSet/>
      <dgm:spPr/>
      <dgm:t>
        <a:bodyPr/>
        <a:lstStyle/>
        <a:p>
          <a:endParaRPr lang="en-US"/>
        </a:p>
      </dgm:t>
    </dgm:pt>
    <dgm:pt modelId="{AD2D9F63-216A-3E45-AC95-D7EFBE04F153}" type="pres">
      <dgm:prSet presAssocID="{14EAAC49-0C83-43D4-A518-5DE0B0C59D98}" presName="linear" presStyleCnt="0">
        <dgm:presLayoutVars>
          <dgm:animLvl val="lvl"/>
          <dgm:resizeHandles val="exact"/>
        </dgm:presLayoutVars>
      </dgm:prSet>
      <dgm:spPr/>
    </dgm:pt>
    <dgm:pt modelId="{E0F095A0-DDFF-1447-A734-19C7977E8260}" type="pres">
      <dgm:prSet presAssocID="{A7843006-9199-4E87-9C09-FCE9D1DC0B3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B94A2CC-5605-AE41-B1CF-6C99D79A2F28}" type="pres">
      <dgm:prSet presAssocID="{73EBCC4B-CD66-4475-BFBC-42A8B275BE07}" presName="spacer" presStyleCnt="0"/>
      <dgm:spPr/>
    </dgm:pt>
    <dgm:pt modelId="{E4B012A1-91A7-3D41-B064-F2C24318FF22}" type="pres">
      <dgm:prSet presAssocID="{2775687E-7A5A-4F43-BF82-6BDED00CD57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DC40838-5B3F-4E8B-BAF4-C020F57E8B10}" srcId="{14EAAC49-0C83-43D4-A518-5DE0B0C59D98}" destId="{2775687E-7A5A-4F43-BF82-6BDED00CD574}" srcOrd="1" destOrd="0" parTransId="{3AB8B187-90CF-4A20-A018-DAF0E5D662FF}" sibTransId="{FECB0DE6-9B1D-48A5-B678-9E947AFD48AB}"/>
    <dgm:cxn modelId="{6C3D7F3F-ABBD-D646-86D1-D86DB651D7C4}" type="presOf" srcId="{2775687E-7A5A-4F43-BF82-6BDED00CD574}" destId="{E4B012A1-91A7-3D41-B064-F2C24318FF22}" srcOrd="0" destOrd="0" presId="urn:microsoft.com/office/officeart/2005/8/layout/vList2"/>
    <dgm:cxn modelId="{A66EE346-B57A-DE41-B3F9-F88563B6B1BC}" type="presOf" srcId="{14EAAC49-0C83-43D4-A518-5DE0B0C59D98}" destId="{AD2D9F63-216A-3E45-AC95-D7EFBE04F153}" srcOrd="0" destOrd="0" presId="urn:microsoft.com/office/officeart/2005/8/layout/vList2"/>
    <dgm:cxn modelId="{A30BBA5B-8984-294A-AA5D-7EF5CE3647AF}" type="presOf" srcId="{A7843006-9199-4E87-9C09-FCE9D1DC0B39}" destId="{E0F095A0-DDFF-1447-A734-19C7977E8260}" srcOrd="0" destOrd="0" presId="urn:microsoft.com/office/officeart/2005/8/layout/vList2"/>
    <dgm:cxn modelId="{2E1EE862-0A23-4788-824A-84FEB529FC7D}" srcId="{14EAAC49-0C83-43D4-A518-5DE0B0C59D98}" destId="{A7843006-9199-4E87-9C09-FCE9D1DC0B39}" srcOrd="0" destOrd="0" parTransId="{D24258D9-A728-4D25-BDB0-F553108132E4}" sibTransId="{73EBCC4B-CD66-4475-BFBC-42A8B275BE07}"/>
    <dgm:cxn modelId="{A9710B2D-3692-004A-8915-AD567E77F8FE}" type="presParOf" srcId="{AD2D9F63-216A-3E45-AC95-D7EFBE04F153}" destId="{E0F095A0-DDFF-1447-A734-19C7977E8260}" srcOrd="0" destOrd="0" presId="urn:microsoft.com/office/officeart/2005/8/layout/vList2"/>
    <dgm:cxn modelId="{06D3BF0D-C8A4-3A48-95F2-DCEB740EB38C}" type="presParOf" srcId="{AD2D9F63-216A-3E45-AC95-D7EFBE04F153}" destId="{2B94A2CC-5605-AE41-B1CF-6C99D79A2F28}" srcOrd="1" destOrd="0" presId="urn:microsoft.com/office/officeart/2005/8/layout/vList2"/>
    <dgm:cxn modelId="{5C2A6C53-9621-D64D-8C94-82A8F61082CA}" type="presParOf" srcId="{AD2D9F63-216A-3E45-AC95-D7EFBE04F153}" destId="{E4B012A1-91A7-3D41-B064-F2C24318FF2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EC68D0-E988-4AE5-8B46-5EF89C75526E}">
      <dsp:nvSpPr>
        <dsp:cNvPr id="0" name=""/>
        <dsp:cNvSpPr/>
      </dsp:nvSpPr>
      <dsp:spPr>
        <a:xfrm>
          <a:off x="603408" y="621355"/>
          <a:ext cx="974598" cy="9745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D00898-0688-48E3-B2FE-2C4C31B61018}">
      <dsp:nvSpPr>
        <dsp:cNvPr id="0" name=""/>
        <dsp:cNvSpPr/>
      </dsp:nvSpPr>
      <dsp:spPr>
        <a:xfrm>
          <a:off x="7820" y="1948682"/>
          <a:ext cx="2165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DCGAN — </a:t>
          </a:r>
          <a:r>
            <a:rPr lang="en-CA" sz="1800" kern="1200"/>
            <a:t>generate -&gt; </a:t>
          </a:r>
          <a:r>
            <a:rPr lang="en-US" sz="1800" kern="1200"/>
            <a:t>synthetic faces</a:t>
          </a:r>
        </a:p>
      </dsp:txBody>
      <dsp:txXfrm>
        <a:off x="7820" y="1948682"/>
        <a:ext cx="2165775" cy="720000"/>
      </dsp:txXfrm>
    </dsp:sp>
    <dsp:sp modelId="{A47E1E8C-270F-42BE-B611-F71A3537D479}">
      <dsp:nvSpPr>
        <dsp:cNvPr id="0" name=""/>
        <dsp:cNvSpPr/>
      </dsp:nvSpPr>
      <dsp:spPr>
        <a:xfrm>
          <a:off x="3148193" y="621355"/>
          <a:ext cx="974598" cy="9745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301DE5-59B3-4686-8785-F79B5630A6EC}">
      <dsp:nvSpPr>
        <dsp:cNvPr id="0" name=""/>
        <dsp:cNvSpPr/>
      </dsp:nvSpPr>
      <dsp:spPr>
        <a:xfrm>
          <a:off x="2552605" y="1948682"/>
          <a:ext cx="2165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CycleGAN — </a:t>
          </a:r>
          <a:r>
            <a:rPr lang="en-CA" sz="1800" kern="1200"/>
            <a:t>image </a:t>
          </a:r>
          <a:r>
            <a:rPr lang="en-US" sz="1800" kern="1200"/>
            <a:t>→</a:t>
          </a:r>
          <a:r>
            <a:rPr lang="en-CA" sz="1800" kern="1200"/>
            <a:t> </a:t>
          </a:r>
          <a:r>
            <a:rPr lang="en-US" sz="1800" kern="1200"/>
            <a:t>cartoon</a:t>
          </a:r>
        </a:p>
      </dsp:txBody>
      <dsp:txXfrm>
        <a:off x="2552605" y="1948682"/>
        <a:ext cx="2165775" cy="720000"/>
      </dsp:txXfrm>
    </dsp:sp>
    <dsp:sp modelId="{8599CE26-C672-495F-A5D7-928F5E819032}">
      <dsp:nvSpPr>
        <dsp:cNvPr id="0" name=""/>
        <dsp:cNvSpPr/>
      </dsp:nvSpPr>
      <dsp:spPr>
        <a:xfrm>
          <a:off x="603408" y="3210126"/>
          <a:ext cx="974598" cy="9745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5B5EF9-CAF6-46E3-AC1E-B31156962458}">
      <dsp:nvSpPr>
        <dsp:cNvPr id="0" name=""/>
        <dsp:cNvSpPr/>
      </dsp:nvSpPr>
      <dsp:spPr>
        <a:xfrm>
          <a:off x="7820" y="4537453"/>
          <a:ext cx="2165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/>
            <a:t>Open Router — Meta Llama 4 Maverick</a:t>
          </a:r>
          <a:endParaRPr lang="en-US" sz="1800" kern="1200"/>
        </a:p>
      </dsp:txBody>
      <dsp:txXfrm>
        <a:off x="7820" y="4537453"/>
        <a:ext cx="2165775" cy="720000"/>
      </dsp:txXfrm>
    </dsp:sp>
    <dsp:sp modelId="{2E79B7F0-D1EE-42CB-922A-572D0555B771}">
      <dsp:nvSpPr>
        <dsp:cNvPr id="0" name=""/>
        <dsp:cNvSpPr/>
      </dsp:nvSpPr>
      <dsp:spPr>
        <a:xfrm>
          <a:off x="3148193" y="3210126"/>
          <a:ext cx="974598" cy="97459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F5CA06-587E-41AC-AAF7-1606A6DAFF15}">
      <dsp:nvSpPr>
        <dsp:cNvPr id="0" name=""/>
        <dsp:cNvSpPr/>
      </dsp:nvSpPr>
      <dsp:spPr>
        <a:xfrm>
          <a:off x="2552605" y="4537453"/>
          <a:ext cx="2165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/>
            <a:t>Hugging Face — StableDiffusionPipeline</a:t>
          </a:r>
          <a:endParaRPr lang="en-US" sz="1800" kern="1200"/>
        </a:p>
      </dsp:txBody>
      <dsp:txXfrm>
        <a:off x="2552605" y="4537453"/>
        <a:ext cx="2165775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F095A0-DDFF-1447-A734-19C7977E8260}">
      <dsp:nvSpPr>
        <dsp:cNvPr id="0" name=""/>
        <dsp:cNvSpPr/>
      </dsp:nvSpPr>
      <dsp:spPr>
        <a:xfrm>
          <a:off x="0" y="46381"/>
          <a:ext cx="3912879" cy="210336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Open Router (Meta Llama 4 Maverick) -&gt; Classify Gender</a:t>
          </a:r>
        </a:p>
      </dsp:txBody>
      <dsp:txXfrm>
        <a:off x="102678" y="149059"/>
        <a:ext cx="3707523" cy="1898011"/>
      </dsp:txXfrm>
    </dsp:sp>
    <dsp:sp modelId="{E4B012A1-91A7-3D41-B064-F2C24318FF22}">
      <dsp:nvSpPr>
        <dsp:cNvPr id="0" name=""/>
        <dsp:cNvSpPr/>
      </dsp:nvSpPr>
      <dsp:spPr>
        <a:xfrm>
          <a:off x="0" y="2201589"/>
          <a:ext cx="3912879" cy="210336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image depicts </a:t>
          </a:r>
          <a:r>
            <a:rPr lang="en-US" sz="1800" b="1" u="sng" kern="1200" dirty="0"/>
            <a:t>a man. </a:t>
          </a:r>
          <a:r>
            <a:rPr lang="en-CA" sz="1800" kern="1200" dirty="0"/>
            <a:t>The image depicts a man. The content of the image is a male individual wearing a black jacket over a gray hoodie, standing in front of a wall with an intricate white design and a concrete pillar to his right.</a:t>
          </a:r>
          <a:endParaRPr lang="en-US" sz="1800" kern="1200" dirty="0"/>
        </a:p>
      </dsp:txBody>
      <dsp:txXfrm>
        <a:off x="102678" y="2304267"/>
        <a:ext cx="3707523" cy="18980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RxRD818Baos&amp;t=109s" TargetMode="External"/><Relationship Id="rId3" Type="http://schemas.openxmlformats.org/officeDocument/2006/relationships/hyperlink" Target="https://arxiv.org/abs/1610.02391" TargetMode="External"/><Relationship Id="rId7" Type="http://schemas.openxmlformats.org/officeDocument/2006/relationships/hyperlink" Target="https://huggingface.co/docs/diffusers/en/api/pipelines/stable_diffusion/text2img?utm_source=chatgpt.com" TargetMode="External"/><Relationship Id="rId2" Type="http://schemas.openxmlformats.org/officeDocument/2006/relationships/hyperlink" Target="https://pytorch.org/vis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docs/diffusers/en/api/pipelines/stable_diffusion/text2im" TargetMode="External"/><Relationship Id="rId5" Type="http://schemas.openxmlformats.org/officeDocument/2006/relationships/hyperlink" Target="https://arxiv.org/abs/1703.10593" TargetMode="External"/><Relationship Id="rId4" Type="http://schemas.openxmlformats.org/officeDocument/2006/relationships/hyperlink" Target="https://arxiv.org/abs/1511.06434" TargetMode="External"/><Relationship Id="rId9" Type="http://schemas.openxmlformats.org/officeDocument/2006/relationships/hyperlink" Target="https://openrouter.ai/meta-llama/llama-4-maverick:free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47766EE-4192-4B2D-A5A0-F60F9A5F7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halk drawing of people representing different genders">
            <a:extLst>
              <a:ext uri="{FF2B5EF4-FFF2-40B4-BE49-F238E27FC236}">
                <a16:creationId xmlns:a16="http://schemas.microsoft.com/office/drawing/2014/main" id="{DA71BB2C-D012-AB9C-3570-742A9A13C3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6" r="8342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8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477229" y="158592"/>
            <a:ext cx="6189541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4104" y="1524000"/>
            <a:ext cx="4155791" cy="2688545"/>
          </a:xfrm>
        </p:spPr>
        <p:txBody>
          <a:bodyPr>
            <a:normAutofit/>
          </a:bodyPr>
          <a:lstStyle/>
          <a:p>
            <a:r>
              <a:rPr lang="en-CA" sz="3500">
                <a:latin typeface="Calibri" panose="020F0502020204030204" pitchFamily="34" charset="0"/>
                <a:cs typeface="Calibri" panose="020F0502020204030204" pitchFamily="34" charset="0"/>
              </a:rPr>
              <a:t>Gender Classification </a:t>
            </a:r>
            <a:br>
              <a:rPr lang="en-CA" sz="350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CA" sz="3500">
                <a:latin typeface="Calibri" panose="020F0502020204030204" pitchFamily="34" charset="0"/>
                <a:cs typeface="Calibri" panose="020F0502020204030204" pitchFamily="34" charset="0"/>
              </a:rPr>
              <a:t>based on </a:t>
            </a:r>
            <a:br>
              <a:rPr lang="en-CA" sz="350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CA" sz="3500">
                <a:latin typeface="Calibri" panose="020F0502020204030204" pitchFamily="34" charset="0"/>
                <a:cs typeface="Calibri" panose="020F0502020204030204" pitchFamily="34" charset="0"/>
              </a:rPr>
              <a:t>Images and Generative Modeling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10314" y="4300833"/>
            <a:ext cx="3323371" cy="13379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1500" b="0" i="0">
                <a:effectLst/>
                <a:latin typeface="+mj-lt"/>
              </a:rPr>
              <a:t>INFO-6147 Deep Learning with Pytorch</a:t>
            </a:r>
          </a:p>
          <a:p>
            <a:pPr>
              <a:lnSpc>
                <a:spcPct val="90000"/>
              </a:lnSpc>
            </a:pPr>
            <a:r>
              <a:rPr lang="en-CA" sz="1500">
                <a:latin typeface="+mj-lt"/>
                <a:cs typeface="Calibri" panose="020F0502020204030204" pitchFamily="34" charset="0"/>
              </a:rPr>
              <a:t>Prof: </a:t>
            </a:r>
            <a:r>
              <a:rPr lang="en-CA" sz="1500" b="0" i="0">
                <a:effectLst/>
                <a:latin typeface="+mj-lt"/>
                <a:cs typeface="Calibri" panose="020F0502020204030204" pitchFamily="34" charset="0"/>
              </a:rPr>
              <a:t>Yousefhussien, Mohammed</a:t>
            </a:r>
            <a:endParaRPr lang="en-CA" sz="1500">
              <a:latin typeface="+mj-lt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CA" sz="1500">
                <a:latin typeface="+mj-lt"/>
                <a:cs typeface="Calibri" panose="020F0502020204030204" pitchFamily="34" charset="0"/>
              </a:rPr>
              <a:t>Yin Yin Thu </a:t>
            </a:r>
          </a:p>
          <a:p>
            <a:pPr>
              <a:lnSpc>
                <a:spcPct val="90000"/>
              </a:lnSpc>
            </a:pPr>
            <a:r>
              <a:rPr lang="en-CA" sz="1500">
                <a:latin typeface="+mj-lt"/>
                <a:cs typeface="Calibri" panose="020F0502020204030204" pitchFamily="34" charset="0"/>
              </a:rPr>
              <a:t>15</a:t>
            </a:r>
            <a:r>
              <a:rPr lang="en-CA" sz="1500" baseline="30000">
                <a:latin typeface="+mj-lt"/>
                <a:cs typeface="Calibri" panose="020F0502020204030204" pitchFamily="34" charset="0"/>
              </a:rPr>
              <a:t>th</a:t>
            </a:r>
            <a:r>
              <a:rPr lang="en-CA" sz="1500">
                <a:latin typeface="+mj-lt"/>
                <a:cs typeface="Calibri" panose="020F0502020204030204" pitchFamily="34" charset="0"/>
              </a:rPr>
              <a:t> April 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921BE6-D1CD-8EC6-F5BC-BC18DF884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Outline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501F5-4741-F369-67BD-B6FFFF9DB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en-US" sz="2100"/>
              <a:t>Dataset Overview</a:t>
            </a:r>
          </a:p>
          <a:p>
            <a:r>
              <a:rPr lang="en-US" sz="2100"/>
              <a:t>Data Preprocessing</a:t>
            </a:r>
          </a:p>
          <a:p>
            <a:r>
              <a:rPr lang="en-CA" sz="2100"/>
              <a:t>Model Training &amp; Hyperparameter Tuning</a:t>
            </a:r>
          </a:p>
          <a:p>
            <a:r>
              <a:rPr lang="en-CA" sz="2100"/>
              <a:t>Model </a:t>
            </a:r>
            <a:r>
              <a:rPr lang="en-US" sz="2100"/>
              <a:t>Evaluation</a:t>
            </a:r>
          </a:p>
          <a:p>
            <a:r>
              <a:rPr lang="en-US" sz="2100"/>
              <a:t>Other Pretrained Models</a:t>
            </a:r>
          </a:p>
          <a:p>
            <a:r>
              <a:rPr lang="en-US" sz="2100"/>
              <a:t>Integrated Application 1 to 4</a:t>
            </a:r>
          </a:p>
          <a:p>
            <a:r>
              <a:rPr lang="en-US" sz="2100"/>
              <a:t>Key Insights &amp; Future Work</a:t>
            </a:r>
          </a:p>
          <a:p>
            <a:r>
              <a:rPr lang="en-US" sz="2100"/>
              <a:t>References</a:t>
            </a:r>
          </a:p>
          <a:p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1532233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CF97B-765A-E80E-CFD0-F71883C3E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5056" y="325694"/>
            <a:ext cx="4073887" cy="9249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dirty="0">
                <a:solidFill>
                  <a:schemeClr val="bg1"/>
                </a:solidFill>
              </a:rPr>
              <a:t>Dataset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19A4-02DD-21CE-B3EA-AD87A4AD0682}"/>
              </a:ext>
            </a:extLst>
          </p:cNvPr>
          <p:cNvSpPr txBox="1"/>
          <p:nvPr/>
        </p:nvSpPr>
        <p:spPr>
          <a:xfrm>
            <a:off x="5198310" y="1830903"/>
            <a:ext cx="3547414" cy="377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 err="1">
                <a:solidFill>
                  <a:schemeClr val="bg1">
                    <a:alpha val="80000"/>
                  </a:schemeClr>
                </a:solidFill>
              </a:rPr>
              <a:t>CelebA</a:t>
            </a:r>
            <a:r>
              <a:rPr lang="en-US" sz="2100" dirty="0">
                <a:solidFill>
                  <a:schemeClr val="bg1">
                    <a:alpha val="80000"/>
                  </a:schemeClr>
                </a:solidFill>
              </a:rPr>
              <a:t> Dataset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bg1">
                    <a:alpha val="80000"/>
                  </a:schemeClr>
                </a:solidFill>
              </a:rPr>
              <a:t>Celebrity Images: 200, 000 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bg1">
                    <a:alpha val="80000"/>
                  </a:schemeClr>
                </a:solidFill>
              </a:rPr>
              <a:t>Attributes: 40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FCCBDF-69E1-5ACE-E70C-61E928550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98" y="1619167"/>
            <a:ext cx="4051300" cy="147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B35E16-49A7-70C8-A2E9-177216D9D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98" y="4134118"/>
            <a:ext cx="40513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74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8594" y="484822"/>
            <a:ext cx="5329236" cy="1323439"/>
          </a:xfrm>
        </p:spPr>
        <p:txBody>
          <a:bodyPr anchor="t">
            <a:normAutofit/>
          </a:bodyPr>
          <a:lstStyle/>
          <a:p>
            <a:r>
              <a:rPr lang="en-CA" sz="3500" dirty="0">
                <a:solidFill>
                  <a:schemeClr val="bg1"/>
                </a:solidFill>
              </a:rP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9212" y="1907718"/>
            <a:ext cx="5828000" cy="194384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2100" dirty="0" err="1">
                <a:solidFill>
                  <a:schemeClr val="bg1">
                    <a:alpha val="80000"/>
                  </a:schemeClr>
                </a:solidFill>
              </a:rPr>
              <a:t>CelebA</a:t>
            </a:r>
            <a:r>
              <a:rPr lang="en-CA" sz="2100" dirty="0">
                <a:solidFill>
                  <a:schemeClr val="bg1">
                    <a:alpha val="80000"/>
                  </a:schemeClr>
                </a:solidFill>
              </a:rPr>
              <a:t> subset (10 k images)</a:t>
            </a:r>
          </a:p>
          <a:p>
            <a:pPr lvl="1">
              <a:lnSpc>
                <a:spcPct val="90000"/>
              </a:lnSpc>
            </a:pPr>
            <a:r>
              <a:rPr lang="en-CA" sz="2100" dirty="0">
                <a:solidFill>
                  <a:schemeClr val="bg1">
                    <a:alpha val="80000"/>
                  </a:schemeClr>
                </a:solidFill>
              </a:rPr>
              <a:t>Resize 224 × 224, normalize (ImageNet </a:t>
            </a:r>
            <a:r>
              <a:rPr lang="el-GR" sz="2100" dirty="0">
                <a:solidFill>
                  <a:schemeClr val="bg1">
                    <a:alpha val="80000"/>
                  </a:schemeClr>
                </a:solidFill>
              </a:rPr>
              <a:t>μ/σ)</a:t>
            </a:r>
          </a:p>
          <a:p>
            <a:pPr lvl="1">
              <a:lnSpc>
                <a:spcPct val="90000"/>
              </a:lnSpc>
            </a:pPr>
            <a:r>
              <a:rPr lang="en-CA" sz="2100" dirty="0">
                <a:solidFill>
                  <a:schemeClr val="bg1">
                    <a:alpha val="80000"/>
                  </a:schemeClr>
                </a:solidFill>
              </a:rPr>
              <a:t>Augment: flip, ±15° rotation</a:t>
            </a:r>
          </a:p>
          <a:p>
            <a:pPr lvl="1">
              <a:lnSpc>
                <a:spcPct val="90000"/>
              </a:lnSpc>
            </a:pPr>
            <a:r>
              <a:rPr lang="en-CA" sz="2100" dirty="0">
                <a:solidFill>
                  <a:schemeClr val="bg1">
                    <a:alpha val="80000"/>
                  </a:schemeClr>
                </a:solidFill>
              </a:rPr>
              <a:t>Splits: 8 k train, 1 k </a:t>
            </a:r>
            <a:r>
              <a:rPr lang="en-CA" sz="2100" dirty="0" err="1">
                <a:solidFill>
                  <a:schemeClr val="bg1">
                    <a:alpha val="80000"/>
                  </a:schemeClr>
                </a:solidFill>
              </a:rPr>
              <a:t>val</a:t>
            </a:r>
            <a:r>
              <a:rPr lang="en-CA" sz="2100" dirty="0">
                <a:solidFill>
                  <a:schemeClr val="bg1">
                    <a:alpha val="80000"/>
                  </a:schemeClr>
                </a:solidFill>
              </a:rPr>
              <a:t>, 1 k test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0505A2-7E03-5D27-061E-8820093A0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3951021"/>
            <a:ext cx="75057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641" y="184878"/>
            <a:ext cx="8839200" cy="1143000"/>
          </a:xfrm>
        </p:spPr>
        <p:txBody>
          <a:bodyPr>
            <a:normAutofit/>
          </a:bodyPr>
          <a:lstStyle/>
          <a:p>
            <a:r>
              <a:rPr lang="en-CA" sz="3500" dirty="0">
                <a:solidFill>
                  <a:schemeClr val="bg1"/>
                </a:solidFill>
              </a:rPr>
              <a:t>Model Training &amp; Hyperparameter Tuning</a:t>
            </a:r>
            <a:endParaRPr sz="35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562" y="1296604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sz="1800" dirty="0" err="1">
                <a:solidFill>
                  <a:schemeClr val="bg1"/>
                </a:solidFill>
              </a:rPr>
              <a:t>SimpleCNN</a:t>
            </a:r>
            <a:r>
              <a:rPr sz="1800" dirty="0">
                <a:solidFill>
                  <a:schemeClr val="bg1"/>
                </a:solidFill>
              </a:rPr>
              <a:t> (3 conv blocks)</a:t>
            </a:r>
            <a:endParaRPr lang="en-CA" sz="1800" dirty="0">
              <a:solidFill>
                <a:schemeClr val="bg1"/>
              </a:solidFill>
            </a:endParaRPr>
          </a:p>
          <a:p>
            <a:endParaRPr lang="en-CA" dirty="0">
              <a:solidFill>
                <a:schemeClr val="bg1"/>
              </a:solidFill>
            </a:endParaRPr>
          </a:p>
          <a:p>
            <a:endParaRPr lang="en-CA" dirty="0">
              <a:solidFill>
                <a:schemeClr val="bg1"/>
              </a:solidFill>
            </a:endParaRPr>
          </a:p>
          <a:p>
            <a:endParaRPr lang="en-CA" dirty="0">
              <a:solidFill>
                <a:schemeClr val="bg1"/>
              </a:solidFill>
            </a:endParaRPr>
          </a:p>
          <a:p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985F26-20AE-319E-8C0E-91F8CC5591D9}"/>
              </a:ext>
            </a:extLst>
          </p:cNvPr>
          <p:cNvSpPr txBox="1"/>
          <p:nvPr/>
        </p:nvSpPr>
        <p:spPr>
          <a:xfrm>
            <a:off x="4996850" y="1296604"/>
            <a:ext cx="393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ResNet‑18 fine‑tuned (transfer learning)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78B0E8-AB2B-CFC0-6C24-54245EF806A9}"/>
              </a:ext>
            </a:extLst>
          </p:cNvPr>
          <p:cNvSpPr txBox="1"/>
          <p:nvPr/>
        </p:nvSpPr>
        <p:spPr>
          <a:xfrm>
            <a:off x="4190105" y="5601137"/>
            <a:ext cx="121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AAE2EDD-D8B0-82BC-E0D2-3AA66EFF7472}"/>
              </a:ext>
            </a:extLst>
          </p:cNvPr>
          <p:cNvSpPr txBox="1">
            <a:spLocks/>
          </p:cNvSpPr>
          <p:nvPr/>
        </p:nvSpPr>
        <p:spPr>
          <a:xfrm>
            <a:off x="935046" y="5137185"/>
            <a:ext cx="7273908" cy="1666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CA" sz="2100" dirty="0" err="1">
                <a:solidFill>
                  <a:schemeClr val="bg1"/>
                </a:solidFill>
              </a:rPr>
              <a:t>BCEWithLogits</a:t>
            </a:r>
            <a:r>
              <a:rPr lang="en-CA" sz="2100" dirty="0">
                <a:solidFill>
                  <a:schemeClr val="bg1"/>
                </a:solidFill>
              </a:rPr>
              <a:t> + Adam (</a:t>
            </a:r>
            <a:r>
              <a:rPr lang="en-CA" sz="2100" dirty="0" err="1">
                <a:solidFill>
                  <a:schemeClr val="bg1"/>
                </a:solidFill>
              </a:rPr>
              <a:t>lr</a:t>
            </a:r>
            <a:r>
              <a:rPr lang="en-CA" sz="2100" dirty="0">
                <a:solidFill>
                  <a:schemeClr val="bg1"/>
                </a:solidFill>
              </a:rPr>
              <a:t> 1e‑3) for classifiers</a:t>
            </a:r>
          </a:p>
          <a:p>
            <a:pPr lvl="1"/>
            <a:r>
              <a:rPr lang="en-CA" sz="2100" dirty="0">
                <a:solidFill>
                  <a:schemeClr val="bg1"/>
                </a:solidFill>
              </a:rPr>
              <a:t>Adam (</a:t>
            </a:r>
            <a:r>
              <a:rPr lang="en-CA" sz="2100" dirty="0" err="1">
                <a:solidFill>
                  <a:schemeClr val="bg1"/>
                </a:solidFill>
              </a:rPr>
              <a:t>lr</a:t>
            </a:r>
            <a:r>
              <a:rPr lang="en-CA" sz="2100" dirty="0">
                <a:solidFill>
                  <a:schemeClr val="bg1"/>
                </a:solidFill>
              </a:rPr>
              <a:t> 2e‑4</a:t>
            </a:r>
            <a:r>
              <a:rPr lang="el-GR" sz="2100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en-CA" sz="2100" dirty="0">
                <a:solidFill>
                  <a:schemeClr val="bg1"/>
                </a:solidFill>
              </a:rPr>
              <a:t>Early stopping (patience 3), 10 epochs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E3E617-2A9B-84DC-6959-0BA8175EA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27" y="1623218"/>
            <a:ext cx="4381500" cy="3467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9BCFF1-65CB-9C88-D33D-F3782C597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241" y="1646652"/>
            <a:ext cx="4495800" cy="3467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57733"/>
            <a:ext cx="8229600" cy="1143000"/>
          </a:xfrm>
        </p:spPr>
        <p:txBody>
          <a:bodyPr>
            <a:normAutofit/>
          </a:bodyPr>
          <a:lstStyle/>
          <a:p>
            <a:r>
              <a:rPr lang="en-CA" sz="3500" dirty="0">
                <a:solidFill>
                  <a:schemeClr val="bg1"/>
                </a:solidFill>
              </a:rPr>
              <a:t>Model </a:t>
            </a:r>
            <a:r>
              <a:rPr sz="3500" dirty="0">
                <a:solidFill>
                  <a:schemeClr val="bg1"/>
                </a:solidFill>
              </a:rP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6927" y="1261521"/>
            <a:ext cx="8229600" cy="4525963"/>
          </a:xfrm>
        </p:spPr>
        <p:txBody>
          <a:bodyPr>
            <a:normAutofit/>
          </a:bodyPr>
          <a:lstStyle/>
          <a:p>
            <a:r>
              <a:rPr lang="en-CA" sz="2100" dirty="0">
                <a:solidFill>
                  <a:schemeClr val="bg1"/>
                </a:solidFill>
              </a:rPr>
              <a:t>Evaluation and Grad-CAM Insights</a:t>
            </a:r>
            <a:endParaRPr sz="2100" dirty="0">
              <a:solidFill>
                <a:schemeClr val="bg1"/>
              </a:solidFill>
            </a:endParaRPr>
          </a:p>
          <a:p>
            <a:pPr lvl="1"/>
            <a:r>
              <a:rPr lang="en-CA" sz="2100" dirty="0" err="1">
                <a:solidFill>
                  <a:schemeClr val="bg1"/>
                </a:solidFill>
              </a:rPr>
              <a:t>SimpleCNN</a:t>
            </a:r>
            <a:r>
              <a:rPr lang="en-CA" sz="2100" dirty="0">
                <a:solidFill>
                  <a:schemeClr val="bg1"/>
                </a:solidFill>
              </a:rPr>
              <a:t> — Accuracy 67 %, F1 70.9 %</a:t>
            </a:r>
          </a:p>
          <a:p>
            <a:pPr lvl="1"/>
            <a:r>
              <a:rPr sz="2100" dirty="0">
                <a:solidFill>
                  <a:schemeClr val="bg1"/>
                </a:solidFill>
              </a:rPr>
              <a:t>ResNet‑18 — Accuracy </a:t>
            </a:r>
            <a:r>
              <a:rPr lang="en-CA" sz="2100" dirty="0">
                <a:solidFill>
                  <a:schemeClr val="bg1"/>
                </a:solidFill>
              </a:rPr>
              <a:t>91</a:t>
            </a:r>
            <a:r>
              <a:rPr sz="2100" dirty="0">
                <a:solidFill>
                  <a:schemeClr val="bg1"/>
                </a:solidFill>
              </a:rPr>
              <a:t> %, F1 8</a:t>
            </a:r>
            <a:r>
              <a:rPr lang="en-CA" sz="2100" dirty="0">
                <a:solidFill>
                  <a:schemeClr val="bg1"/>
                </a:solidFill>
              </a:rPr>
              <a:t>9</a:t>
            </a:r>
            <a:r>
              <a:rPr sz="2100" dirty="0">
                <a:solidFill>
                  <a:schemeClr val="bg1"/>
                </a:solidFill>
              </a:rPr>
              <a:t>.</a:t>
            </a:r>
            <a:r>
              <a:rPr lang="en-CA" sz="2100" dirty="0">
                <a:solidFill>
                  <a:schemeClr val="bg1"/>
                </a:solidFill>
              </a:rPr>
              <a:t>4</a:t>
            </a:r>
            <a:r>
              <a:rPr sz="2100" dirty="0">
                <a:solidFill>
                  <a:schemeClr val="bg1"/>
                </a:solidFill>
              </a:rPr>
              <a:t> %</a:t>
            </a:r>
          </a:p>
          <a:p>
            <a:pPr lvl="1"/>
            <a:r>
              <a:rPr sz="2100" dirty="0">
                <a:solidFill>
                  <a:schemeClr val="bg1"/>
                </a:solidFill>
              </a:rPr>
              <a:t>Transfer learning ⇒ +</a:t>
            </a:r>
            <a:r>
              <a:rPr lang="en-CA" sz="2100" dirty="0">
                <a:solidFill>
                  <a:schemeClr val="bg1"/>
                </a:solidFill>
              </a:rPr>
              <a:t>18</a:t>
            </a:r>
            <a:r>
              <a:rPr sz="2100" dirty="0">
                <a:solidFill>
                  <a:schemeClr val="bg1"/>
                </a:solidFill>
              </a:rPr>
              <a:t> F1 points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947A4C-E0C9-FA84-F952-00FC36F6F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831" y="3011410"/>
            <a:ext cx="5262336" cy="3559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CA" sz="3700">
                <a:solidFill>
                  <a:schemeClr val="bg1"/>
                </a:solidFill>
              </a:rPr>
              <a:t>Other Pretrained Models</a:t>
            </a:r>
          </a:p>
        </p:txBody>
      </p:sp>
      <p:grpSp>
        <p:nvGrpSpPr>
          <p:cNvPr id="14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2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3DA111-118D-EFEE-274F-6D05E1152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0585500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2691CC-4AB8-48AF-B822-EBF7F4E9E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15089" y="-6106"/>
            <a:ext cx="3812796" cy="2139318"/>
          </a:xfrm>
          <a:custGeom>
            <a:avLst/>
            <a:gdLst>
              <a:gd name="connsiteX0" fmla="*/ 18382 w 4480560"/>
              <a:gd name="connsiteY0" fmla="*/ 0 h 2513993"/>
              <a:gd name="connsiteX1" fmla="*/ 4462178 w 4480560"/>
              <a:gd name="connsiteY1" fmla="*/ 0 h 2513993"/>
              <a:gd name="connsiteX2" fmla="*/ 4468994 w 4480560"/>
              <a:gd name="connsiteY2" fmla="*/ 44657 h 2513993"/>
              <a:gd name="connsiteX3" fmla="*/ 4480560 w 4480560"/>
              <a:gd name="connsiteY3" fmla="*/ 273713 h 2513993"/>
              <a:gd name="connsiteX4" fmla="*/ 2240280 w 4480560"/>
              <a:gd name="connsiteY4" fmla="*/ 2513993 h 2513993"/>
              <a:gd name="connsiteX5" fmla="*/ 0 w 4480560"/>
              <a:gd name="connsiteY5" fmla="*/ 273713 h 2513993"/>
              <a:gd name="connsiteX6" fmla="*/ 11567 w 4480560"/>
              <a:gd name="connsiteY6" fmla="*/ 44657 h 2513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80560" h="2513993">
                <a:moveTo>
                  <a:pt x="18382" y="0"/>
                </a:moveTo>
                <a:lnTo>
                  <a:pt x="4462178" y="0"/>
                </a:lnTo>
                <a:lnTo>
                  <a:pt x="4468994" y="44657"/>
                </a:lnTo>
                <a:cubicBezTo>
                  <a:pt x="4476642" y="119969"/>
                  <a:pt x="4480560" y="196384"/>
                  <a:pt x="4480560" y="273713"/>
                </a:cubicBezTo>
                <a:cubicBezTo>
                  <a:pt x="4480560" y="1510985"/>
                  <a:pt x="3477552" y="2513993"/>
                  <a:pt x="2240280" y="2513993"/>
                </a:cubicBezTo>
                <a:cubicBezTo>
                  <a:pt x="1003008" y="2513993"/>
                  <a:pt x="0" y="1510985"/>
                  <a:pt x="0" y="273713"/>
                </a:cubicBezTo>
                <a:cubicBezTo>
                  <a:pt x="0" y="196384"/>
                  <a:pt x="3918" y="119969"/>
                  <a:pt x="11567" y="4465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7311653-CA1C-4366-AF7B-2E9767F1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8533" y="-6105"/>
            <a:ext cx="3532672" cy="1999256"/>
          </a:xfrm>
          <a:custGeom>
            <a:avLst/>
            <a:gdLst>
              <a:gd name="connsiteX0" fmla="*/ 20101 w 4151376"/>
              <a:gd name="connsiteY0" fmla="*/ 0 h 2349401"/>
              <a:gd name="connsiteX1" fmla="*/ 4131276 w 4151376"/>
              <a:gd name="connsiteY1" fmla="*/ 0 h 2349401"/>
              <a:gd name="connsiteX2" fmla="*/ 4140659 w 4151376"/>
              <a:gd name="connsiteY2" fmla="*/ 61486 h 2349401"/>
              <a:gd name="connsiteX3" fmla="*/ 4151376 w 4151376"/>
              <a:gd name="connsiteY3" fmla="*/ 273713 h 2349401"/>
              <a:gd name="connsiteX4" fmla="*/ 2075688 w 4151376"/>
              <a:gd name="connsiteY4" fmla="*/ 2349401 h 2349401"/>
              <a:gd name="connsiteX5" fmla="*/ 0 w 4151376"/>
              <a:gd name="connsiteY5" fmla="*/ 273713 h 2349401"/>
              <a:gd name="connsiteX6" fmla="*/ 10717 w 4151376"/>
              <a:gd name="connsiteY6" fmla="*/ 61486 h 234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51376" h="2349401">
                <a:moveTo>
                  <a:pt x="20101" y="0"/>
                </a:moveTo>
                <a:lnTo>
                  <a:pt x="4131276" y="0"/>
                </a:lnTo>
                <a:lnTo>
                  <a:pt x="4140659" y="61486"/>
                </a:lnTo>
                <a:cubicBezTo>
                  <a:pt x="4147746" y="131265"/>
                  <a:pt x="4151376" y="202065"/>
                  <a:pt x="4151376" y="273713"/>
                </a:cubicBezTo>
                <a:cubicBezTo>
                  <a:pt x="4151376" y="1420084"/>
                  <a:pt x="3222059" y="2349401"/>
                  <a:pt x="2075688" y="2349401"/>
                </a:cubicBezTo>
                <a:cubicBezTo>
                  <a:pt x="929317" y="2349401"/>
                  <a:pt x="0" y="1420084"/>
                  <a:pt x="0" y="273713"/>
                </a:cubicBezTo>
                <a:cubicBezTo>
                  <a:pt x="0" y="202065"/>
                  <a:pt x="3630" y="131265"/>
                  <a:pt x="10717" y="6148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6A8E1B4-B839-4C58-B08A-F0B094580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5747" y="3393309"/>
            <a:ext cx="4358254" cy="3464690"/>
          </a:xfrm>
          <a:custGeom>
            <a:avLst/>
            <a:gdLst>
              <a:gd name="connsiteX0" fmla="*/ 2748962 w 4966870"/>
              <a:gd name="connsiteY0" fmla="*/ 0 h 3948522"/>
              <a:gd name="connsiteX1" fmla="*/ 4870195 w 4966870"/>
              <a:gd name="connsiteY1" fmla="*/ 1000367 h 3948522"/>
              <a:gd name="connsiteX2" fmla="*/ 4966870 w 4966870"/>
              <a:gd name="connsiteY2" fmla="*/ 1129649 h 3948522"/>
              <a:gd name="connsiteX3" fmla="*/ 4966870 w 4966870"/>
              <a:gd name="connsiteY3" fmla="*/ 3948522 h 3948522"/>
              <a:gd name="connsiteX4" fmla="*/ 278430 w 4966870"/>
              <a:gd name="connsiteY4" fmla="*/ 3948522 h 3948522"/>
              <a:gd name="connsiteX5" fmla="*/ 216027 w 4966870"/>
              <a:gd name="connsiteY5" fmla="*/ 3818982 h 3948522"/>
              <a:gd name="connsiteX6" fmla="*/ 0 w 4966870"/>
              <a:gd name="connsiteY6" fmla="*/ 2748962 h 3948522"/>
              <a:gd name="connsiteX7" fmla="*/ 2748962 w 4966870"/>
              <a:gd name="connsiteY7" fmla="*/ 0 h 3948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66870" h="3948522">
                <a:moveTo>
                  <a:pt x="2748962" y="0"/>
                </a:moveTo>
                <a:cubicBezTo>
                  <a:pt x="3602955" y="0"/>
                  <a:pt x="4365995" y="389418"/>
                  <a:pt x="4870195" y="1000367"/>
                </a:cubicBezTo>
                <a:lnTo>
                  <a:pt x="4966870" y="1129649"/>
                </a:lnTo>
                <a:lnTo>
                  <a:pt x="4966870" y="3948522"/>
                </a:lnTo>
                <a:lnTo>
                  <a:pt x="278430" y="3948522"/>
                </a:lnTo>
                <a:lnTo>
                  <a:pt x="216027" y="3818982"/>
                </a:lnTo>
                <a:cubicBezTo>
                  <a:pt x="76922" y="3490101"/>
                  <a:pt x="0" y="3128515"/>
                  <a:pt x="0" y="2748962"/>
                </a:cubicBezTo>
                <a:cubicBezTo>
                  <a:pt x="0" y="1230752"/>
                  <a:pt x="1230752" y="0"/>
                  <a:pt x="2748962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CABF795-F18F-494E-BBDE-C1415B786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31214" y="3538777"/>
            <a:ext cx="4212786" cy="3319223"/>
          </a:xfrm>
          <a:custGeom>
            <a:avLst/>
            <a:gdLst>
              <a:gd name="connsiteX0" fmla="*/ 2583180 w 4801088"/>
              <a:gd name="connsiteY0" fmla="*/ 0 h 3782741"/>
              <a:gd name="connsiteX1" fmla="*/ 4725194 w 4801088"/>
              <a:gd name="connsiteY1" fmla="*/ 1138900 h 3782741"/>
              <a:gd name="connsiteX2" fmla="*/ 4801088 w 4801088"/>
              <a:gd name="connsiteY2" fmla="*/ 1263826 h 3782741"/>
              <a:gd name="connsiteX3" fmla="*/ 4801088 w 4801088"/>
              <a:gd name="connsiteY3" fmla="*/ 3782741 h 3782741"/>
              <a:gd name="connsiteX4" fmla="*/ 296488 w 4801088"/>
              <a:gd name="connsiteY4" fmla="*/ 3782741 h 3782741"/>
              <a:gd name="connsiteX5" fmla="*/ 202999 w 4801088"/>
              <a:gd name="connsiteY5" fmla="*/ 3588671 h 3782741"/>
              <a:gd name="connsiteX6" fmla="*/ 0 w 4801088"/>
              <a:gd name="connsiteY6" fmla="*/ 2583180 h 3782741"/>
              <a:gd name="connsiteX7" fmla="*/ 2583180 w 4801088"/>
              <a:gd name="connsiteY7" fmla="*/ 0 h 3782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01088" h="3782741">
                <a:moveTo>
                  <a:pt x="2583180" y="0"/>
                </a:moveTo>
                <a:cubicBezTo>
                  <a:pt x="3474837" y="0"/>
                  <a:pt x="4260977" y="451769"/>
                  <a:pt x="4725194" y="1138900"/>
                </a:cubicBezTo>
                <a:lnTo>
                  <a:pt x="4801088" y="1263826"/>
                </a:lnTo>
                <a:lnTo>
                  <a:pt x="4801088" y="3782741"/>
                </a:lnTo>
                <a:lnTo>
                  <a:pt x="296488" y="3782741"/>
                </a:lnTo>
                <a:lnTo>
                  <a:pt x="202999" y="3588671"/>
                </a:lnTo>
                <a:cubicBezTo>
                  <a:pt x="72283" y="3279623"/>
                  <a:pt x="0" y="2939843"/>
                  <a:pt x="0" y="2583180"/>
                </a:cubicBezTo>
                <a:cubicBezTo>
                  <a:pt x="0" y="1156529"/>
                  <a:pt x="1156529" y="0"/>
                  <a:pt x="25831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B349BE-2993-7A2A-B3C2-2C0DD9BBE587}"/>
              </a:ext>
            </a:extLst>
          </p:cNvPr>
          <p:cNvSpPr txBox="1"/>
          <p:nvPr/>
        </p:nvSpPr>
        <p:spPr>
          <a:xfrm>
            <a:off x="5288367" y="5081670"/>
            <a:ext cx="370511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000" b="1" u="sng" dirty="0">
                <a:solidFill>
                  <a:schemeClr val="bg1"/>
                </a:solidFill>
              </a:rPr>
              <a:t>Generative Model </a:t>
            </a:r>
          </a:p>
          <a:p>
            <a:pPr algn="ctr"/>
            <a:r>
              <a:rPr lang="en-CA" sz="2000" dirty="0">
                <a:solidFill>
                  <a:schemeClr val="bg1"/>
                </a:solidFill>
              </a:rPr>
              <a:t>DCGAN → Classify → </a:t>
            </a:r>
            <a:r>
              <a:rPr lang="en-CA" sz="2000" dirty="0" err="1">
                <a:solidFill>
                  <a:schemeClr val="bg1"/>
                </a:solidFill>
              </a:rPr>
              <a:t>CycleGAN</a:t>
            </a:r>
            <a:r>
              <a:rPr lang="en-CA" sz="20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CA" sz="2000" dirty="0">
                <a:solidFill>
                  <a:schemeClr val="bg1"/>
                </a:solidFill>
              </a:rPr>
              <a:t>Using Grad‑CAM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CA" sz="2000" dirty="0" err="1">
                <a:solidFill>
                  <a:schemeClr val="bg1"/>
                </a:solidFill>
              </a:rPr>
              <a:t>Cartonize</a:t>
            </a:r>
            <a:r>
              <a:rPr lang="en-CA" sz="2000" dirty="0">
                <a:solidFill>
                  <a:schemeClr val="bg1"/>
                </a:solidFill>
              </a:rPr>
              <a:t> the image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A464217-B32B-26F0-0789-DAC846790C6C}"/>
              </a:ext>
            </a:extLst>
          </p:cNvPr>
          <p:cNvSpPr txBox="1">
            <a:spLocks/>
          </p:cNvSpPr>
          <p:nvPr/>
        </p:nvSpPr>
        <p:spPr>
          <a:xfrm>
            <a:off x="0" y="230887"/>
            <a:ext cx="4822523" cy="10172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CA" sz="3500"/>
              <a:t>Integrated Application </a:t>
            </a:r>
            <a:endParaRPr lang="en-CA" sz="3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7DDA90-7DCE-C4D3-F4E4-CF1992E20E31}"/>
              </a:ext>
            </a:extLst>
          </p:cNvPr>
          <p:cNvSpPr txBox="1"/>
          <p:nvPr/>
        </p:nvSpPr>
        <p:spPr>
          <a:xfrm>
            <a:off x="6082505" y="41634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DAF8D8-CB33-17C9-C34F-605671A5A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95" y="1784187"/>
            <a:ext cx="6082505" cy="28327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D32DEE-A5F3-D8DD-BEA3-F13A7874F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043" y="4814715"/>
            <a:ext cx="1945985" cy="2043284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7C38E6-D883-E458-391E-901AAB313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CED4D-29F1-7140-33C5-34A81CFEA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0887"/>
            <a:ext cx="4822523" cy="101723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CA" sz="3500" dirty="0"/>
              <a:t>Integrated Application 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32691CC-4AB8-48AF-B822-EBF7F4E9E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15089" y="-6106"/>
            <a:ext cx="3812796" cy="2139318"/>
          </a:xfrm>
          <a:custGeom>
            <a:avLst/>
            <a:gdLst>
              <a:gd name="connsiteX0" fmla="*/ 18382 w 4480560"/>
              <a:gd name="connsiteY0" fmla="*/ 0 h 2513993"/>
              <a:gd name="connsiteX1" fmla="*/ 4462178 w 4480560"/>
              <a:gd name="connsiteY1" fmla="*/ 0 h 2513993"/>
              <a:gd name="connsiteX2" fmla="*/ 4468994 w 4480560"/>
              <a:gd name="connsiteY2" fmla="*/ 44657 h 2513993"/>
              <a:gd name="connsiteX3" fmla="*/ 4480560 w 4480560"/>
              <a:gd name="connsiteY3" fmla="*/ 273713 h 2513993"/>
              <a:gd name="connsiteX4" fmla="*/ 2240280 w 4480560"/>
              <a:gd name="connsiteY4" fmla="*/ 2513993 h 2513993"/>
              <a:gd name="connsiteX5" fmla="*/ 0 w 4480560"/>
              <a:gd name="connsiteY5" fmla="*/ 273713 h 2513993"/>
              <a:gd name="connsiteX6" fmla="*/ 11567 w 4480560"/>
              <a:gd name="connsiteY6" fmla="*/ 44657 h 2513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80560" h="2513993">
                <a:moveTo>
                  <a:pt x="18382" y="0"/>
                </a:moveTo>
                <a:lnTo>
                  <a:pt x="4462178" y="0"/>
                </a:lnTo>
                <a:lnTo>
                  <a:pt x="4468994" y="44657"/>
                </a:lnTo>
                <a:cubicBezTo>
                  <a:pt x="4476642" y="119969"/>
                  <a:pt x="4480560" y="196384"/>
                  <a:pt x="4480560" y="273713"/>
                </a:cubicBezTo>
                <a:cubicBezTo>
                  <a:pt x="4480560" y="1510985"/>
                  <a:pt x="3477552" y="2513993"/>
                  <a:pt x="2240280" y="2513993"/>
                </a:cubicBezTo>
                <a:cubicBezTo>
                  <a:pt x="1003008" y="2513993"/>
                  <a:pt x="0" y="1510985"/>
                  <a:pt x="0" y="273713"/>
                </a:cubicBezTo>
                <a:cubicBezTo>
                  <a:pt x="0" y="196384"/>
                  <a:pt x="3918" y="119969"/>
                  <a:pt x="11567" y="4465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7311653-CA1C-4366-AF7B-2E9767F1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8533" y="-6105"/>
            <a:ext cx="3532672" cy="1999256"/>
          </a:xfrm>
          <a:custGeom>
            <a:avLst/>
            <a:gdLst>
              <a:gd name="connsiteX0" fmla="*/ 20101 w 4151376"/>
              <a:gd name="connsiteY0" fmla="*/ 0 h 2349401"/>
              <a:gd name="connsiteX1" fmla="*/ 4131276 w 4151376"/>
              <a:gd name="connsiteY1" fmla="*/ 0 h 2349401"/>
              <a:gd name="connsiteX2" fmla="*/ 4140659 w 4151376"/>
              <a:gd name="connsiteY2" fmla="*/ 61486 h 2349401"/>
              <a:gd name="connsiteX3" fmla="*/ 4151376 w 4151376"/>
              <a:gd name="connsiteY3" fmla="*/ 273713 h 2349401"/>
              <a:gd name="connsiteX4" fmla="*/ 2075688 w 4151376"/>
              <a:gd name="connsiteY4" fmla="*/ 2349401 h 2349401"/>
              <a:gd name="connsiteX5" fmla="*/ 0 w 4151376"/>
              <a:gd name="connsiteY5" fmla="*/ 273713 h 2349401"/>
              <a:gd name="connsiteX6" fmla="*/ 10717 w 4151376"/>
              <a:gd name="connsiteY6" fmla="*/ 61486 h 234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51376" h="2349401">
                <a:moveTo>
                  <a:pt x="20101" y="0"/>
                </a:moveTo>
                <a:lnTo>
                  <a:pt x="4131276" y="0"/>
                </a:lnTo>
                <a:lnTo>
                  <a:pt x="4140659" y="61486"/>
                </a:lnTo>
                <a:cubicBezTo>
                  <a:pt x="4147746" y="131265"/>
                  <a:pt x="4151376" y="202065"/>
                  <a:pt x="4151376" y="273713"/>
                </a:cubicBezTo>
                <a:cubicBezTo>
                  <a:pt x="4151376" y="1420084"/>
                  <a:pt x="3222059" y="2349401"/>
                  <a:pt x="2075688" y="2349401"/>
                </a:cubicBezTo>
                <a:cubicBezTo>
                  <a:pt x="929317" y="2349401"/>
                  <a:pt x="0" y="1420084"/>
                  <a:pt x="0" y="273713"/>
                </a:cubicBezTo>
                <a:cubicBezTo>
                  <a:pt x="0" y="202065"/>
                  <a:pt x="3630" y="131265"/>
                  <a:pt x="10717" y="6148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8" name="Picture 7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B8D01CFE-D299-E4F4-8C1E-838ABA14C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397" y="1799488"/>
            <a:ext cx="2100943" cy="387325"/>
          </a:xfrm>
          <a:prstGeom prst="rect">
            <a:avLst/>
          </a:prstGeom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6A8E1B4-B839-4C58-B08A-F0B094580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5747" y="3393309"/>
            <a:ext cx="4358254" cy="3464690"/>
          </a:xfrm>
          <a:custGeom>
            <a:avLst/>
            <a:gdLst>
              <a:gd name="connsiteX0" fmla="*/ 2748962 w 4966870"/>
              <a:gd name="connsiteY0" fmla="*/ 0 h 3948522"/>
              <a:gd name="connsiteX1" fmla="*/ 4870195 w 4966870"/>
              <a:gd name="connsiteY1" fmla="*/ 1000367 h 3948522"/>
              <a:gd name="connsiteX2" fmla="*/ 4966870 w 4966870"/>
              <a:gd name="connsiteY2" fmla="*/ 1129649 h 3948522"/>
              <a:gd name="connsiteX3" fmla="*/ 4966870 w 4966870"/>
              <a:gd name="connsiteY3" fmla="*/ 3948522 h 3948522"/>
              <a:gd name="connsiteX4" fmla="*/ 278430 w 4966870"/>
              <a:gd name="connsiteY4" fmla="*/ 3948522 h 3948522"/>
              <a:gd name="connsiteX5" fmla="*/ 216027 w 4966870"/>
              <a:gd name="connsiteY5" fmla="*/ 3818982 h 3948522"/>
              <a:gd name="connsiteX6" fmla="*/ 0 w 4966870"/>
              <a:gd name="connsiteY6" fmla="*/ 2748962 h 3948522"/>
              <a:gd name="connsiteX7" fmla="*/ 2748962 w 4966870"/>
              <a:gd name="connsiteY7" fmla="*/ 0 h 3948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66870" h="3948522">
                <a:moveTo>
                  <a:pt x="2748962" y="0"/>
                </a:moveTo>
                <a:cubicBezTo>
                  <a:pt x="3602955" y="0"/>
                  <a:pt x="4365995" y="389418"/>
                  <a:pt x="4870195" y="1000367"/>
                </a:cubicBezTo>
                <a:lnTo>
                  <a:pt x="4966870" y="1129649"/>
                </a:lnTo>
                <a:lnTo>
                  <a:pt x="4966870" y="3948522"/>
                </a:lnTo>
                <a:lnTo>
                  <a:pt x="278430" y="3948522"/>
                </a:lnTo>
                <a:lnTo>
                  <a:pt x="216027" y="3818982"/>
                </a:lnTo>
                <a:cubicBezTo>
                  <a:pt x="76922" y="3490101"/>
                  <a:pt x="0" y="3128515"/>
                  <a:pt x="0" y="2748962"/>
                </a:cubicBezTo>
                <a:cubicBezTo>
                  <a:pt x="0" y="1230752"/>
                  <a:pt x="1230752" y="0"/>
                  <a:pt x="2748962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CABF795-F18F-494E-BBDE-C1415B786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31214" y="3538777"/>
            <a:ext cx="4212786" cy="3319223"/>
          </a:xfrm>
          <a:custGeom>
            <a:avLst/>
            <a:gdLst>
              <a:gd name="connsiteX0" fmla="*/ 2583180 w 4801088"/>
              <a:gd name="connsiteY0" fmla="*/ 0 h 3782741"/>
              <a:gd name="connsiteX1" fmla="*/ 4725194 w 4801088"/>
              <a:gd name="connsiteY1" fmla="*/ 1138900 h 3782741"/>
              <a:gd name="connsiteX2" fmla="*/ 4801088 w 4801088"/>
              <a:gd name="connsiteY2" fmla="*/ 1263826 h 3782741"/>
              <a:gd name="connsiteX3" fmla="*/ 4801088 w 4801088"/>
              <a:gd name="connsiteY3" fmla="*/ 3782741 h 3782741"/>
              <a:gd name="connsiteX4" fmla="*/ 296488 w 4801088"/>
              <a:gd name="connsiteY4" fmla="*/ 3782741 h 3782741"/>
              <a:gd name="connsiteX5" fmla="*/ 202999 w 4801088"/>
              <a:gd name="connsiteY5" fmla="*/ 3588671 h 3782741"/>
              <a:gd name="connsiteX6" fmla="*/ 0 w 4801088"/>
              <a:gd name="connsiteY6" fmla="*/ 2583180 h 3782741"/>
              <a:gd name="connsiteX7" fmla="*/ 2583180 w 4801088"/>
              <a:gd name="connsiteY7" fmla="*/ 0 h 3782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01088" h="3782741">
                <a:moveTo>
                  <a:pt x="2583180" y="0"/>
                </a:moveTo>
                <a:cubicBezTo>
                  <a:pt x="3474837" y="0"/>
                  <a:pt x="4260977" y="451769"/>
                  <a:pt x="4725194" y="1138900"/>
                </a:cubicBezTo>
                <a:lnTo>
                  <a:pt x="4801088" y="1263826"/>
                </a:lnTo>
                <a:lnTo>
                  <a:pt x="4801088" y="3782741"/>
                </a:lnTo>
                <a:lnTo>
                  <a:pt x="296488" y="3782741"/>
                </a:lnTo>
                <a:lnTo>
                  <a:pt x="202999" y="3588671"/>
                </a:lnTo>
                <a:cubicBezTo>
                  <a:pt x="72283" y="3279623"/>
                  <a:pt x="0" y="2939843"/>
                  <a:pt x="0" y="2583180"/>
                </a:cubicBezTo>
                <a:cubicBezTo>
                  <a:pt x="0" y="1156529"/>
                  <a:pt x="1156529" y="0"/>
                  <a:pt x="25831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972B95-CBC5-A7AF-FEB4-DF98574D6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61" y="2465757"/>
            <a:ext cx="4550411" cy="26847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9F6839-118A-37C0-938A-AA7B7B624C37}"/>
              </a:ext>
            </a:extLst>
          </p:cNvPr>
          <p:cNvSpPr txBox="1"/>
          <p:nvPr/>
        </p:nvSpPr>
        <p:spPr>
          <a:xfrm>
            <a:off x="5754219" y="4641500"/>
            <a:ext cx="27459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u="sng" dirty="0">
                <a:solidFill>
                  <a:schemeClr val="bg1"/>
                </a:solidFill>
              </a:rPr>
              <a:t>Interactive Demo</a:t>
            </a:r>
            <a:endParaRPr lang="en-CA" dirty="0">
              <a:solidFill>
                <a:schemeClr val="bg1"/>
              </a:solidFill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Upload a photo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Classify Gender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CA" sz="1800" dirty="0">
                <a:solidFill>
                  <a:schemeClr val="bg1"/>
                </a:solidFill>
              </a:rPr>
              <a:t>Using Grad‑CAM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05A571-A574-DA3C-2325-A3C2A162950E}"/>
              </a:ext>
            </a:extLst>
          </p:cNvPr>
          <p:cNvSpPr txBox="1"/>
          <p:nvPr/>
        </p:nvSpPr>
        <p:spPr>
          <a:xfrm>
            <a:off x="6082505" y="41634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83693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E7B83-EB38-AF3F-B61D-802241DDE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5A327-D8A9-60BB-F934-24E227FED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0887"/>
            <a:ext cx="4822523" cy="101723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CA" sz="3500" dirty="0"/>
              <a:t>Integrated Application 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BDD6874-5D39-E8B9-49A4-9200E3C64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15089" y="-6106"/>
            <a:ext cx="3812796" cy="2139318"/>
          </a:xfrm>
          <a:custGeom>
            <a:avLst/>
            <a:gdLst>
              <a:gd name="connsiteX0" fmla="*/ 18382 w 4480560"/>
              <a:gd name="connsiteY0" fmla="*/ 0 h 2513993"/>
              <a:gd name="connsiteX1" fmla="*/ 4462178 w 4480560"/>
              <a:gd name="connsiteY1" fmla="*/ 0 h 2513993"/>
              <a:gd name="connsiteX2" fmla="*/ 4468994 w 4480560"/>
              <a:gd name="connsiteY2" fmla="*/ 44657 h 2513993"/>
              <a:gd name="connsiteX3" fmla="*/ 4480560 w 4480560"/>
              <a:gd name="connsiteY3" fmla="*/ 273713 h 2513993"/>
              <a:gd name="connsiteX4" fmla="*/ 2240280 w 4480560"/>
              <a:gd name="connsiteY4" fmla="*/ 2513993 h 2513993"/>
              <a:gd name="connsiteX5" fmla="*/ 0 w 4480560"/>
              <a:gd name="connsiteY5" fmla="*/ 273713 h 2513993"/>
              <a:gd name="connsiteX6" fmla="*/ 11567 w 4480560"/>
              <a:gd name="connsiteY6" fmla="*/ 44657 h 2513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80560" h="2513993">
                <a:moveTo>
                  <a:pt x="18382" y="0"/>
                </a:moveTo>
                <a:lnTo>
                  <a:pt x="4462178" y="0"/>
                </a:lnTo>
                <a:lnTo>
                  <a:pt x="4468994" y="44657"/>
                </a:lnTo>
                <a:cubicBezTo>
                  <a:pt x="4476642" y="119969"/>
                  <a:pt x="4480560" y="196384"/>
                  <a:pt x="4480560" y="273713"/>
                </a:cubicBezTo>
                <a:cubicBezTo>
                  <a:pt x="4480560" y="1510985"/>
                  <a:pt x="3477552" y="2513993"/>
                  <a:pt x="2240280" y="2513993"/>
                </a:cubicBezTo>
                <a:cubicBezTo>
                  <a:pt x="1003008" y="2513993"/>
                  <a:pt x="0" y="1510985"/>
                  <a:pt x="0" y="273713"/>
                </a:cubicBezTo>
                <a:cubicBezTo>
                  <a:pt x="0" y="196384"/>
                  <a:pt x="3918" y="119969"/>
                  <a:pt x="11567" y="4465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4B583C6-81A5-8CA0-B742-EC6DE3E7C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8533" y="-6105"/>
            <a:ext cx="3532672" cy="1999256"/>
          </a:xfrm>
          <a:custGeom>
            <a:avLst/>
            <a:gdLst>
              <a:gd name="connsiteX0" fmla="*/ 20101 w 4151376"/>
              <a:gd name="connsiteY0" fmla="*/ 0 h 2349401"/>
              <a:gd name="connsiteX1" fmla="*/ 4131276 w 4151376"/>
              <a:gd name="connsiteY1" fmla="*/ 0 h 2349401"/>
              <a:gd name="connsiteX2" fmla="*/ 4140659 w 4151376"/>
              <a:gd name="connsiteY2" fmla="*/ 61486 h 2349401"/>
              <a:gd name="connsiteX3" fmla="*/ 4151376 w 4151376"/>
              <a:gd name="connsiteY3" fmla="*/ 273713 h 2349401"/>
              <a:gd name="connsiteX4" fmla="*/ 2075688 w 4151376"/>
              <a:gd name="connsiteY4" fmla="*/ 2349401 h 2349401"/>
              <a:gd name="connsiteX5" fmla="*/ 0 w 4151376"/>
              <a:gd name="connsiteY5" fmla="*/ 273713 h 2349401"/>
              <a:gd name="connsiteX6" fmla="*/ 10717 w 4151376"/>
              <a:gd name="connsiteY6" fmla="*/ 61486 h 234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51376" h="2349401">
                <a:moveTo>
                  <a:pt x="20101" y="0"/>
                </a:moveTo>
                <a:lnTo>
                  <a:pt x="4131276" y="0"/>
                </a:lnTo>
                <a:lnTo>
                  <a:pt x="4140659" y="61486"/>
                </a:lnTo>
                <a:cubicBezTo>
                  <a:pt x="4147746" y="131265"/>
                  <a:pt x="4151376" y="202065"/>
                  <a:pt x="4151376" y="273713"/>
                </a:cubicBezTo>
                <a:cubicBezTo>
                  <a:pt x="4151376" y="1420084"/>
                  <a:pt x="3222059" y="2349401"/>
                  <a:pt x="2075688" y="2349401"/>
                </a:cubicBezTo>
                <a:cubicBezTo>
                  <a:pt x="929317" y="2349401"/>
                  <a:pt x="0" y="1420084"/>
                  <a:pt x="0" y="273713"/>
                </a:cubicBezTo>
                <a:cubicBezTo>
                  <a:pt x="0" y="202065"/>
                  <a:pt x="3630" y="131265"/>
                  <a:pt x="10717" y="6148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49C892C-40E7-B6A2-014D-EE6B31168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5747" y="3393309"/>
            <a:ext cx="4358254" cy="3464690"/>
          </a:xfrm>
          <a:custGeom>
            <a:avLst/>
            <a:gdLst>
              <a:gd name="connsiteX0" fmla="*/ 2748962 w 4966870"/>
              <a:gd name="connsiteY0" fmla="*/ 0 h 3948522"/>
              <a:gd name="connsiteX1" fmla="*/ 4870195 w 4966870"/>
              <a:gd name="connsiteY1" fmla="*/ 1000367 h 3948522"/>
              <a:gd name="connsiteX2" fmla="*/ 4966870 w 4966870"/>
              <a:gd name="connsiteY2" fmla="*/ 1129649 h 3948522"/>
              <a:gd name="connsiteX3" fmla="*/ 4966870 w 4966870"/>
              <a:gd name="connsiteY3" fmla="*/ 3948522 h 3948522"/>
              <a:gd name="connsiteX4" fmla="*/ 278430 w 4966870"/>
              <a:gd name="connsiteY4" fmla="*/ 3948522 h 3948522"/>
              <a:gd name="connsiteX5" fmla="*/ 216027 w 4966870"/>
              <a:gd name="connsiteY5" fmla="*/ 3818982 h 3948522"/>
              <a:gd name="connsiteX6" fmla="*/ 0 w 4966870"/>
              <a:gd name="connsiteY6" fmla="*/ 2748962 h 3948522"/>
              <a:gd name="connsiteX7" fmla="*/ 2748962 w 4966870"/>
              <a:gd name="connsiteY7" fmla="*/ 0 h 3948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66870" h="3948522">
                <a:moveTo>
                  <a:pt x="2748962" y="0"/>
                </a:moveTo>
                <a:cubicBezTo>
                  <a:pt x="3602955" y="0"/>
                  <a:pt x="4365995" y="389418"/>
                  <a:pt x="4870195" y="1000367"/>
                </a:cubicBezTo>
                <a:lnTo>
                  <a:pt x="4966870" y="1129649"/>
                </a:lnTo>
                <a:lnTo>
                  <a:pt x="4966870" y="3948522"/>
                </a:lnTo>
                <a:lnTo>
                  <a:pt x="278430" y="3948522"/>
                </a:lnTo>
                <a:lnTo>
                  <a:pt x="216027" y="3818982"/>
                </a:lnTo>
                <a:cubicBezTo>
                  <a:pt x="76922" y="3490101"/>
                  <a:pt x="0" y="3128515"/>
                  <a:pt x="0" y="2748962"/>
                </a:cubicBezTo>
                <a:cubicBezTo>
                  <a:pt x="0" y="1230752"/>
                  <a:pt x="1230752" y="0"/>
                  <a:pt x="2748962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D3463AA-8537-9068-2231-1B17D5548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31214" y="3538777"/>
            <a:ext cx="4212786" cy="3319223"/>
          </a:xfrm>
          <a:custGeom>
            <a:avLst/>
            <a:gdLst>
              <a:gd name="connsiteX0" fmla="*/ 2583180 w 4801088"/>
              <a:gd name="connsiteY0" fmla="*/ 0 h 3782741"/>
              <a:gd name="connsiteX1" fmla="*/ 4725194 w 4801088"/>
              <a:gd name="connsiteY1" fmla="*/ 1138900 h 3782741"/>
              <a:gd name="connsiteX2" fmla="*/ 4801088 w 4801088"/>
              <a:gd name="connsiteY2" fmla="*/ 1263826 h 3782741"/>
              <a:gd name="connsiteX3" fmla="*/ 4801088 w 4801088"/>
              <a:gd name="connsiteY3" fmla="*/ 3782741 h 3782741"/>
              <a:gd name="connsiteX4" fmla="*/ 296488 w 4801088"/>
              <a:gd name="connsiteY4" fmla="*/ 3782741 h 3782741"/>
              <a:gd name="connsiteX5" fmla="*/ 202999 w 4801088"/>
              <a:gd name="connsiteY5" fmla="*/ 3588671 h 3782741"/>
              <a:gd name="connsiteX6" fmla="*/ 0 w 4801088"/>
              <a:gd name="connsiteY6" fmla="*/ 2583180 h 3782741"/>
              <a:gd name="connsiteX7" fmla="*/ 2583180 w 4801088"/>
              <a:gd name="connsiteY7" fmla="*/ 0 h 3782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01088" h="3782741">
                <a:moveTo>
                  <a:pt x="2583180" y="0"/>
                </a:moveTo>
                <a:cubicBezTo>
                  <a:pt x="3474837" y="0"/>
                  <a:pt x="4260977" y="451769"/>
                  <a:pt x="4725194" y="1138900"/>
                </a:cubicBezTo>
                <a:lnTo>
                  <a:pt x="4801088" y="1263826"/>
                </a:lnTo>
                <a:lnTo>
                  <a:pt x="4801088" y="3782741"/>
                </a:lnTo>
                <a:lnTo>
                  <a:pt x="296488" y="3782741"/>
                </a:lnTo>
                <a:lnTo>
                  <a:pt x="202999" y="3588671"/>
                </a:lnTo>
                <a:cubicBezTo>
                  <a:pt x="72283" y="3279623"/>
                  <a:pt x="0" y="2939843"/>
                  <a:pt x="0" y="2583180"/>
                </a:cubicBezTo>
                <a:cubicBezTo>
                  <a:pt x="0" y="1156529"/>
                  <a:pt x="1156529" y="0"/>
                  <a:pt x="25831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727B05-0589-5F26-48C1-296C8C93704A}"/>
              </a:ext>
            </a:extLst>
          </p:cNvPr>
          <p:cNvSpPr txBox="1"/>
          <p:nvPr/>
        </p:nvSpPr>
        <p:spPr>
          <a:xfrm>
            <a:off x="5849570" y="4687333"/>
            <a:ext cx="27459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u="sng" dirty="0">
                <a:solidFill>
                  <a:schemeClr val="bg1"/>
                </a:solidFill>
                <a:effectLst/>
              </a:rPr>
              <a:t>Hugging Face </a:t>
            </a:r>
            <a:r>
              <a:rPr lang="en-CA" b="1" u="sng" dirty="0" err="1">
                <a:solidFill>
                  <a:schemeClr val="bg1"/>
                </a:solidFill>
                <a:effectLst/>
              </a:rPr>
              <a:t>StableDiffusionPipeline</a:t>
            </a:r>
            <a:endParaRPr lang="en-CA" b="1" u="sng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Classify Gender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sz="1800" dirty="0">
                <a:solidFill>
                  <a:schemeClr val="bg1"/>
                </a:solidFill>
              </a:rPr>
              <a:t>Using Grad‑CAM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4ED30F-4E29-B831-562E-AA2D86BD93D5}"/>
              </a:ext>
            </a:extLst>
          </p:cNvPr>
          <p:cNvSpPr txBox="1"/>
          <p:nvPr/>
        </p:nvSpPr>
        <p:spPr>
          <a:xfrm>
            <a:off x="6082505" y="41634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EC95F9-E406-543C-1104-C7ED066B2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831" y="1555750"/>
            <a:ext cx="5619861" cy="330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3699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9625-F8F1-1A01-5C82-EFFAD8B7C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2782" y="28198"/>
            <a:ext cx="4776294" cy="106720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3400" dirty="0">
                <a:solidFill>
                  <a:schemeClr val="bg1"/>
                </a:solidFill>
              </a:rPr>
              <a:t>Integrated Application 4</a:t>
            </a:r>
            <a:endParaRPr lang="en-US" sz="3400" dirty="0">
              <a:solidFill>
                <a:schemeClr val="bg1"/>
              </a:solidFill>
            </a:endParaRPr>
          </a:p>
        </p:txBody>
      </p:sp>
      <p:pic>
        <p:nvPicPr>
          <p:cNvPr id="7" name="Picture 6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11BF269C-B5F2-6654-E9E1-60D665047D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37" r="-3" b="-3"/>
          <a:stretch/>
        </p:blipFill>
        <p:spPr>
          <a:xfrm>
            <a:off x="554969" y="1095407"/>
            <a:ext cx="3566210" cy="475494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ln w="28575">
            <a:noFill/>
          </a:ln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396390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50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21453" y="5987064"/>
            <a:ext cx="790849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BD02BAC8-7CD7-7E48-EB18-430914137A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3268251"/>
              </p:ext>
            </p:extLst>
          </p:nvPr>
        </p:nvGraphicFramePr>
        <p:xfrm>
          <a:off x="4676151" y="1820369"/>
          <a:ext cx="3912879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61566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7FA44E-BB96-A910-6336-376D12A4D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1041">
            <a:extLst>
              <a:ext uri="{FF2B5EF4-FFF2-40B4-BE49-F238E27FC236}">
                <a16:creationId xmlns:a16="http://schemas.microsoft.com/office/drawing/2014/main" id="{B7E0954B-B56B-5FD2-3776-4F29EDAC9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-1500"/>
            <a:ext cx="9143999" cy="6858000"/>
          </a:xfrm>
          <a:prstGeom prst="rect">
            <a:avLst/>
          </a:prstGeom>
          <a:gradFill>
            <a:gsLst>
              <a:gs pos="19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9A6E8602-5EAB-A28B-E1D6-5569F2A36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58902" y="12437"/>
            <a:ext cx="8785098" cy="6844063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0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19CBD796-FEB5-0160-5D8D-47401532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2724072"/>
            <a:ext cx="9144005" cy="4114801"/>
          </a:xfrm>
          <a:prstGeom prst="rect">
            <a:avLst/>
          </a:prstGeom>
          <a:gradFill>
            <a:gsLst>
              <a:gs pos="30000">
                <a:schemeClr val="accent1">
                  <a:lumMod val="75000"/>
                  <a:alpha val="19000"/>
                </a:schemeClr>
              </a:gs>
              <a:gs pos="100000">
                <a:schemeClr val="accent1">
                  <a:alpha val="24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DCCA0920-52EC-0B79-0024-445E92EA1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2139504" y="2144129"/>
            <a:ext cx="6858003" cy="2566746"/>
          </a:xfrm>
          <a:prstGeom prst="rect">
            <a:avLst/>
          </a:prstGeom>
          <a:gradFill>
            <a:gsLst>
              <a:gs pos="0">
                <a:schemeClr val="accent1">
                  <a:alpha val="52000"/>
                </a:schemeClr>
              </a:gs>
              <a:gs pos="76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82D635-5318-AA76-38DF-5E29C144B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927" y="559703"/>
            <a:ext cx="7400498" cy="116749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200" dirty="0"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3CB631D4-C286-04B7-5BED-C4365FD1A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342" y="2706446"/>
            <a:ext cx="9143997" cy="3711900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92000">
                <a:schemeClr val="accent1">
                  <a:lumMod val="75000"/>
                  <a:alpha val="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4680D0-5472-DABB-F684-3D05C6CE1085}"/>
              </a:ext>
            </a:extLst>
          </p:cNvPr>
          <p:cNvSpPr txBox="1"/>
          <p:nvPr/>
        </p:nvSpPr>
        <p:spPr>
          <a:xfrm>
            <a:off x="6969042" y="6427349"/>
            <a:ext cx="2075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Images from Google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38D35-49AD-0D92-090E-3F8F1F7F2B65}"/>
              </a:ext>
            </a:extLst>
          </p:cNvPr>
          <p:cNvSpPr txBox="1"/>
          <p:nvPr/>
        </p:nvSpPr>
        <p:spPr>
          <a:xfrm>
            <a:off x="1779814" y="3575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BD0E86-7D0F-6316-F28A-86680984D63B}"/>
              </a:ext>
            </a:extLst>
          </p:cNvPr>
          <p:cNvSpPr txBox="1"/>
          <p:nvPr/>
        </p:nvSpPr>
        <p:spPr>
          <a:xfrm>
            <a:off x="854328" y="2881500"/>
            <a:ext cx="7152402" cy="2082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Transfer learning with ResNet</a:t>
            </a:r>
            <a:r>
              <a:rPr lang="en-US" sz="1800" dirty="0">
                <a:solidFill>
                  <a:schemeClr val="bg1"/>
                </a:solidFill>
                <a:effectLst/>
                <a:latin typeface="Cambria Math" panose="02040503050406030204" pitchFamily="18" charset="0"/>
                <a:ea typeface="MS Gothic" panose="020B0609070205080204" pitchFamily="49" charset="-128"/>
                <a:cs typeface="Cambria Math" panose="02040503050406030204" pitchFamily="18" charset="0"/>
              </a:rPr>
              <a:t>‑</a:t>
            </a: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18 outperformed the custom CNN, underscoring the value of pre-trained features. </a:t>
            </a:r>
          </a:p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Generative augmentations and interpretability techniques improved model robustness and transparency. </a:t>
            </a:r>
          </a:p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User-centric features demonstrate system versatility for real-world deployment.</a:t>
            </a:r>
            <a:endParaRPr lang="en-CA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289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1041">
            <a:extLst>
              <a:ext uri="{FF2B5EF4-FFF2-40B4-BE49-F238E27FC236}">
                <a16:creationId xmlns:a16="http://schemas.microsoft.com/office/drawing/2014/main" id="{EDC07B27-4E3C-4BCF-ABDB-6AA72857C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-1500"/>
            <a:ext cx="9143999" cy="6858000"/>
          </a:xfrm>
          <a:prstGeom prst="rect">
            <a:avLst/>
          </a:prstGeom>
          <a:gradFill>
            <a:gsLst>
              <a:gs pos="19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83D11BE6-2A04-4DBB-842D-88602B5E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58902" y="12437"/>
            <a:ext cx="8785098" cy="6844063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0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2A05E02A-9AA9-45EC-B87B-B46F043F3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2724072"/>
            <a:ext cx="9144005" cy="4114801"/>
          </a:xfrm>
          <a:prstGeom prst="rect">
            <a:avLst/>
          </a:prstGeom>
          <a:gradFill>
            <a:gsLst>
              <a:gs pos="30000">
                <a:schemeClr val="accent1">
                  <a:lumMod val="75000"/>
                  <a:alpha val="19000"/>
                </a:schemeClr>
              </a:gs>
              <a:gs pos="100000">
                <a:schemeClr val="accent1">
                  <a:alpha val="24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E91EDBA-E8E0-4575-8147-B70034521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2139504" y="2144129"/>
            <a:ext cx="6858003" cy="2566746"/>
          </a:xfrm>
          <a:prstGeom prst="rect">
            <a:avLst/>
          </a:prstGeom>
          <a:gradFill>
            <a:gsLst>
              <a:gs pos="0">
                <a:schemeClr val="accent1">
                  <a:alpha val="52000"/>
                </a:schemeClr>
              </a:gs>
              <a:gs pos="76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8A2D8E-9578-F2A0-254E-B184BC06D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927" y="559703"/>
            <a:ext cx="7400498" cy="116749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200" dirty="0">
                <a:solidFill>
                  <a:srgbClr val="FFFFFF"/>
                </a:solidFill>
              </a:rPr>
              <a:t>Insights &amp; Future Work</a:t>
            </a: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DFEE4473-A122-4E96-8C31-B4C5AAA27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342" y="2706446"/>
            <a:ext cx="9143997" cy="3711900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92000">
                <a:schemeClr val="accent1">
                  <a:lumMod val="75000"/>
                  <a:alpha val="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Llama 4: How to Access and Use It">
            <a:extLst>
              <a:ext uri="{FF2B5EF4-FFF2-40B4-BE49-F238E27FC236}">
                <a16:creationId xmlns:a16="http://schemas.microsoft.com/office/drawing/2014/main" id="{0F21F4AD-FDAB-89B4-7697-58433CECF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85427" y="2605643"/>
            <a:ext cx="2384946" cy="1335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rand assets - Hugging Face">
            <a:extLst>
              <a:ext uri="{FF2B5EF4-FFF2-40B4-BE49-F238E27FC236}">
                <a16:creationId xmlns:a16="http://schemas.microsoft.com/office/drawing/2014/main" id="{7A110755-211C-5483-D106-C1A58CB54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8902" y="3006227"/>
            <a:ext cx="2384946" cy="634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hat is facial recognition?">
            <a:extLst>
              <a:ext uri="{FF2B5EF4-FFF2-40B4-BE49-F238E27FC236}">
                <a16:creationId xmlns:a16="http://schemas.microsoft.com/office/drawing/2014/main" id="{B9DBD36C-692D-64AE-9895-73358F56D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8948" y="2673823"/>
            <a:ext cx="1916477" cy="1437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entiment Analysis: Types, Tools, and Use Cases">
            <a:extLst>
              <a:ext uri="{FF2B5EF4-FFF2-40B4-BE49-F238E27FC236}">
                <a16:creationId xmlns:a16="http://schemas.microsoft.com/office/drawing/2014/main" id="{BA4D72BC-A05C-2313-DE6D-D76743B76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3652" y="4102133"/>
            <a:ext cx="3089791" cy="231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4138B7-C866-4404-3D32-C387352C091A}"/>
              </a:ext>
            </a:extLst>
          </p:cNvPr>
          <p:cNvSpPr txBox="1"/>
          <p:nvPr/>
        </p:nvSpPr>
        <p:spPr>
          <a:xfrm>
            <a:off x="6969042" y="6427349"/>
            <a:ext cx="2075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Images from Google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3B59C1-AB84-E8AF-3C0F-894F188C27B4}"/>
              </a:ext>
            </a:extLst>
          </p:cNvPr>
          <p:cNvSpPr txBox="1"/>
          <p:nvPr/>
        </p:nvSpPr>
        <p:spPr>
          <a:xfrm>
            <a:off x="428469" y="4061280"/>
            <a:ext cx="4572000" cy="2244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This project showcases an end-to-end deep learning pipeline integrating classification, generative modeling, and interpretability.</a:t>
            </a:r>
          </a:p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Future work includes multi-attribute classification, high-resolution GAN training, advanced explainability, and deployment as a user-friendly web application.</a:t>
            </a:r>
            <a:endParaRPr lang="en-CA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74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6B9B6D-7E72-6548-B241-1486D228B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040" y="1261138"/>
            <a:ext cx="6719920" cy="888360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solidFill>
                  <a:schemeClr val="bg1">
                    <a:alpha val="60000"/>
                  </a:schemeClr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7581B-6EF1-36AE-0EED-225B5950B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040" y="2427383"/>
            <a:ext cx="6719919" cy="3169482"/>
          </a:xfrm>
        </p:spPr>
        <p:txBody>
          <a:bodyPr anchor="t">
            <a:normAutofit/>
          </a:bodyPr>
          <a:lstStyle/>
          <a:p>
            <a:r>
              <a:rPr lang="en-US" sz="20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Torchvision</a:t>
            </a:r>
            <a:r>
              <a:rPr lang="en-US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documentation, </a:t>
            </a:r>
            <a:r>
              <a:rPr lang="en-US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  <a:hlinkClick r:id="rId2"/>
              </a:rPr>
              <a:t>https://pytorch.org/vision</a:t>
            </a:r>
            <a:endParaRPr lang="en-US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Grad-CAM paper, </a:t>
            </a:r>
            <a:r>
              <a:rPr lang="en-US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  <a:hlinkClick r:id="rId3"/>
              </a:rPr>
              <a:t>https://arxiv.org/abs/1610.02391</a:t>
            </a:r>
            <a:endParaRPr lang="en-US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DCGAN paper, </a:t>
            </a:r>
            <a:r>
              <a:rPr lang="en-US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  <a:hlinkClick r:id="rId4"/>
              </a:rPr>
              <a:t>https://arxiv.org/abs/1511.06434</a:t>
            </a:r>
            <a:endParaRPr lang="en-US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r>
              <a:rPr lang="en-US" sz="20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CycleGAN</a:t>
            </a:r>
            <a:r>
              <a:rPr lang="en-US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paper, </a:t>
            </a:r>
            <a:r>
              <a:rPr lang="en-US" sz="2000" u="sng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https://arxiv.org/abs/1703.10593</a:t>
            </a:r>
            <a:endParaRPr lang="en-US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https://huggingface.co/docs/diffusers/en/api/pipelines/stable_diffusion/text2im</a:t>
            </a:r>
            <a:r>
              <a:rPr lang="en-US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</a:t>
            </a:r>
            <a:endParaRPr lang="en-US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https://www.youtube.com/watch?v=RxRD818Baos</a:t>
            </a: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https://openrouter.ai/meta-llama/llama-4-maverick:free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2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6893FC-3085-0469-FCFB-D8478326C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D47766EE-4192-4B2D-A5A0-F60F9A5F7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halk drawing of people representing different genders">
            <a:extLst>
              <a:ext uri="{FF2B5EF4-FFF2-40B4-BE49-F238E27FC236}">
                <a16:creationId xmlns:a16="http://schemas.microsoft.com/office/drawing/2014/main" id="{07C6DED3-7DF4-89A4-B797-11C595155F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6" r="8342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33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991578" y="838201"/>
            <a:ext cx="5323621" cy="4549051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6ED594-665C-7869-185E-47595310C4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4104" y="2493331"/>
            <a:ext cx="4155791" cy="1655378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/>
            <a:r>
              <a:rPr lang="en-US" sz="3800" dirty="0"/>
              <a:t>Thank you, Prof, Wassim and All ! </a:t>
            </a:r>
          </a:p>
        </p:txBody>
      </p:sp>
    </p:spTree>
    <p:extLst>
      <p:ext uri="{BB962C8B-B14F-4D97-AF65-F5344CB8AC3E}">
        <p14:creationId xmlns:p14="http://schemas.microsoft.com/office/powerpoint/2010/main" val="154303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598</TotalTime>
  <Words>503</Words>
  <Application>Microsoft Macintosh PowerPoint</Application>
  <PresentationFormat>On-screen Show (4:3)</PresentationFormat>
  <Paragraphs>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Courier New</vt:lpstr>
      <vt:lpstr>Office Theme</vt:lpstr>
      <vt:lpstr>Gender Classification  based on  Images and Generative Modeling</vt:lpstr>
      <vt:lpstr>Outline</vt:lpstr>
      <vt:lpstr>Dataset Overview</vt:lpstr>
      <vt:lpstr>Data Preprocessing</vt:lpstr>
      <vt:lpstr>Model Training &amp; Hyperparameter Tuning</vt:lpstr>
      <vt:lpstr>Model Evaluation</vt:lpstr>
      <vt:lpstr>Other Pretrained Models</vt:lpstr>
      <vt:lpstr>PowerPoint Presentation</vt:lpstr>
      <vt:lpstr>Integrated Application </vt:lpstr>
      <vt:lpstr>Integrated Application </vt:lpstr>
      <vt:lpstr>Integrated Application 4</vt:lpstr>
      <vt:lpstr>Discussion</vt:lpstr>
      <vt:lpstr>Insights &amp; Future Work</vt:lpstr>
      <vt:lpstr>References</vt:lpstr>
      <vt:lpstr>Thank you, Prof, Wassim and All !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Thu, Yin Yin</cp:lastModifiedBy>
  <cp:revision>15</cp:revision>
  <dcterms:created xsi:type="dcterms:W3CDTF">2013-01-27T09:14:16Z</dcterms:created>
  <dcterms:modified xsi:type="dcterms:W3CDTF">2025-04-27T07:55:51Z</dcterms:modified>
  <cp:category/>
</cp:coreProperties>
</file>